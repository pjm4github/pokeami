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791825" cy="118491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chitecture_step4_md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791825" cy="118491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32988" y="143922"/>
            <a:ext cx="238506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200">
                <a:solidFill>
                  <a:srgbClr val="000000"/>
                </a:solidFill>
              </a:rPr>
              <a:t>Step 4: Core MDMS — VEE Pipeline</a:t>
            </a:r>
          </a:p>
        </p:txBody>
      </p:sp>
      <p:sp>
        <p:nvSpPr>
          <p:cNvPr id="4" name="Freeform 3"/>
          <p:cNvSpPr/>
          <p:nvPr/>
        </p:nvSpPr>
        <p:spPr>
          <a:xfrm>
            <a:off x="4092130" y="813435"/>
            <a:ext cx="6442710" cy="970788"/>
          </a:xfrm>
          <a:custGeom>
            <a:avLst/>
            <a:gdLst/>
            <a:ahLst/>
            <a:cxnLst/>
            <a:rect l="l" t="t" r="r" b="b"/>
            <a:pathLst>
              <a:path w="6442710" h="970788">
                <a:moveTo>
                  <a:pt x="0" y="95137"/>
                </a:moveTo>
                <a:lnTo>
                  <a:pt x="95352" y="0"/>
                </a:lnTo>
                <a:lnTo>
                  <a:pt x="6442710" y="0"/>
                </a:lnTo>
                <a:lnTo>
                  <a:pt x="6442710" y="875650"/>
                </a:lnTo>
                <a:lnTo>
                  <a:pt x="6347358" y="970788"/>
                </a:lnTo>
                <a:lnTo>
                  <a:pt x="0" y="970788"/>
                </a:lnTo>
                <a:lnTo>
                  <a:pt x="0" y="95137"/>
                </a:lnTo>
                <a:close/>
              </a:path>
            </a:pathLst>
          </a:custGeom>
          <a:solidFill>
            <a:srgbClr val="E0E0E0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Smart Meters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44435" y="1203674"/>
            <a:ext cx="1336833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E350 Residential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12186" y="1203674"/>
            <a:ext cx="1267110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E360 Advanced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14548" y="1203674"/>
            <a:ext cx="1191672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S4x/E650 C&amp;I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41977" y="1203674"/>
            <a:ext cx="1334166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E660/Revelo IoT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12804" y="1415795"/>
            <a:ext cx="1061561" cy="1218248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7271766" y="1415795"/>
            <a:ext cx="2474023" cy="1218248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10432" y="1415795"/>
            <a:ext cx="761334" cy="1218248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7271766" y="1415795"/>
            <a:ext cx="837342" cy="1218248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4911851" y="1415795"/>
            <a:ext cx="953" cy="1218248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377690" y="1988915"/>
            <a:ext cx="3779805" cy="1131189"/>
          </a:xfrm>
          <a:prstGeom prst="ellipse">
            <a:avLst/>
          </a:prstGeom>
          <a:solidFill>
            <a:srgbClr val="EEEEE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Communication Network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43454" y="2421921"/>
            <a:ext cx="861917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RF Mesh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5529" y="2421921"/>
            <a:ext cx="592836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42557" y="2421921"/>
            <a:ext cx="1058322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Cellular LTE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74365" y="2634043"/>
            <a:ext cx="1691259" cy="1401032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911851" y="2634043"/>
            <a:ext cx="2753773" cy="1401032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271766" y="2634043"/>
            <a:ext cx="393858" cy="1401032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reeform 20"/>
          <p:cNvSpPr/>
          <p:nvPr/>
        </p:nvSpPr>
        <p:spPr>
          <a:xfrm>
            <a:off x="5900261" y="3392614"/>
            <a:ext cx="3530632" cy="1284827"/>
          </a:xfrm>
          <a:custGeom>
            <a:avLst/>
            <a:gdLst/>
            <a:ahLst/>
            <a:cxnLst/>
            <a:rect l="l" t="t" r="r" b="b"/>
            <a:pathLst>
              <a:path w="3530632" h="1284827">
                <a:moveTo>
                  <a:pt x="0" y="95206"/>
                </a:moveTo>
                <a:lnTo>
                  <a:pt x="95327" y="0"/>
                </a:lnTo>
                <a:lnTo>
                  <a:pt x="3530632" y="0"/>
                </a:lnTo>
                <a:lnTo>
                  <a:pt x="3530632" y="1189622"/>
                </a:lnTo>
                <a:lnTo>
                  <a:pt x="3435304" y="1284827"/>
                </a:lnTo>
                <a:lnTo>
                  <a:pt x="0" y="1284827"/>
                </a:lnTo>
                <a:lnTo>
                  <a:pt x="0" y="95206"/>
                </a:lnTo>
                <a:close/>
              </a:path>
            </a:pathLst>
          </a:custGeom>
          <a:solidFill>
            <a:srgbClr val="FFF3E0"/>
          </a:solidFill>
          <a:ln w="1270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Gridstream HES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[(Head-End System)]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1089" y="4020788"/>
            <a:ext cx="1248060" cy="424243"/>
          </a:xfrm>
          <a:prstGeom prst="roundRect">
            <a:avLst>
              <a:gd name="adj" fmla="val 22451"/>
            </a:avLst>
          </a:prstGeom>
          <a:solidFill>
            <a:srgbClr val="FFE0B2"/>
          </a:solidFill>
          <a:ln w="1270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Data Collection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14217" y="4020788"/>
            <a:ext cx="1305687" cy="424243"/>
          </a:xfrm>
          <a:prstGeom prst="roundRect">
            <a:avLst>
              <a:gd name="adj" fmla="val 22451"/>
            </a:avLst>
          </a:prstGeom>
          <a:solidFill>
            <a:srgbClr val="FFE0B2"/>
          </a:solidFill>
          <a:ln w="1270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Meter Inventory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65624" y="4035075"/>
            <a:ext cx="109443" cy="2995613"/>
          </a:xfrm>
          <a:prstGeom prst="line">
            <a:avLst/>
          </a:prstGeom>
          <a:ln w="25400">
            <a:solidFill>
              <a:srgbClr val="2E7D3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225045" y="5413819"/>
            <a:ext cx="9906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2E7D32"/>
                </a:solidFill>
              </a:rPr>
              <a:t>raw readings →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2103215" y="4035075"/>
            <a:ext cx="5562409" cy="4941856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665624" y="4035075"/>
            <a:ext cx="290227" cy="6428994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Freeform 27"/>
          <p:cNvSpPr/>
          <p:nvPr/>
        </p:nvSpPr>
        <p:spPr>
          <a:xfrm>
            <a:off x="5900261" y="5296090"/>
            <a:ext cx="3749516" cy="3469100"/>
          </a:xfrm>
          <a:custGeom>
            <a:avLst/>
            <a:gdLst/>
            <a:ahLst/>
            <a:cxnLst/>
            <a:rect l="l" t="t" r="r" b="b"/>
            <a:pathLst>
              <a:path w="3749516" h="3469100">
                <a:moveTo>
                  <a:pt x="0" y="95053"/>
                </a:moveTo>
                <a:lnTo>
                  <a:pt x="95237" y="0"/>
                </a:lnTo>
                <a:lnTo>
                  <a:pt x="3749516" y="0"/>
                </a:lnTo>
                <a:lnTo>
                  <a:pt x="3749516" y="3374047"/>
                </a:lnTo>
                <a:lnTo>
                  <a:pt x="3654278" y="3469100"/>
                </a:lnTo>
                <a:lnTo>
                  <a:pt x="0" y="3469100"/>
                </a:lnTo>
                <a:lnTo>
                  <a:pt x="0" y="95053"/>
                </a:lnTo>
                <a:close/>
              </a:path>
            </a:pathLst>
          </a:cu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Core MDMS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[(Meter Data Mgmt)]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50923" y="5924264"/>
            <a:ext cx="1266539" cy="840771"/>
          </a:xfrm>
          <a:prstGeom prst="roundRect">
            <a:avLst>
              <a:gd name="adj" fmla="val 11328"/>
            </a:avLst>
          </a:prstGeom>
          <a:solidFill>
            <a:srgbClr val="C8E6C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1. Validation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[Range checks]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Spike detection Null detection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550" y="5924264"/>
            <a:ext cx="1505616" cy="840771"/>
          </a:xfrm>
          <a:prstGeom prst="roundRect">
            <a:avLst>
              <a:gd name="adj" fmla="val 11328"/>
            </a:avLst>
          </a:prstGeom>
          <a:solidFill>
            <a:srgbClr val="C8E6C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2. Estimation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[Linear interpolation]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Gap filling Neighbor averaging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66522" y="7699248"/>
            <a:ext cx="1528857" cy="840771"/>
          </a:xfrm>
          <a:prstGeom prst="roundRect">
            <a:avLst>
              <a:gd name="adj" fmla="val 11328"/>
            </a:avLst>
          </a:prstGeom>
          <a:solidFill>
            <a:srgbClr val="C8E6C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3. Editing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[Quality flag mgmt]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is_validated = true Billing determinants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2103215" y="7030688"/>
            <a:ext cx="5671852" cy="1946243"/>
          </a:xfrm>
          <a:prstGeom prst="line">
            <a:avLst/>
          </a:prstGeom>
          <a:ln w="25400">
            <a:solidFill>
              <a:srgbClr val="2E7D3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386691" y="7884747"/>
            <a:ext cx="11049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2E7D32"/>
                </a:solidFill>
              </a:rPr>
              <a:t>validated data →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75067" y="7030688"/>
            <a:ext cx="180784" cy="3433381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reeform 34"/>
          <p:cNvSpPr/>
          <p:nvPr/>
        </p:nvSpPr>
        <p:spPr>
          <a:xfrm>
            <a:off x="199834" y="7437501"/>
            <a:ext cx="3806666" cy="3078861"/>
          </a:xfrm>
          <a:custGeom>
            <a:avLst/>
            <a:gdLst/>
            <a:ahLst/>
            <a:cxnLst/>
            <a:rect l="l" t="t" r="r" b="b"/>
            <a:pathLst>
              <a:path w="3806666" h="3078861">
                <a:moveTo>
                  <a:pt x="0" y="95136"/>
                </a:moveTo>
                <a:lnTo>
                  <a:pt x="95167" y="0"/>
                </a:lnTo>
                <a:lnTo>
                  <a:pt x="3806666" y="0"/>
                </a:lnTo>
                <a:lnTo>
                  <a:pt x="3806666" y="2983724"/>
                </a:lnTo>
                <a:lnTo>
                  <a:pt x="3711500" y="3078861"/>
                </a:lnTo>
                <a:lnTo>
                  <a:pt x="0" y="3078861"/>
                </a:lnTo>
                <a:lnTo>
                  <a:pt x="0" y="95136"/>
                </a:lnTo>
                <a:close/>
              </a:path>
            </a:pathLst>
          </a:custGeom>
          <a:solidFill>
            <a:srgbClr val="E0E0E0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Gridstream Analytics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8244" y="7903845"/>
            <a:ext cx="1368075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Demand Analysis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136457" y="7903845"/>
            <a:ext cx="1459230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Voltage Monitoring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3006" y="9859708"/>
            <a:ext cx="1493710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Revenue Protection</a:t>
            </a:r>
          </a:p>
        </p:txBody>
      </p:sp>
      <p:sp>
        <p:nvSpPr>
          <p:cNvPr id="39" name="Oval 38"/>
          <p:cNvSpPr/>
          <p:nvPr/>
        </p:nvSpPr>
        <p:spPr>
          <a:xfrm>
            <a:off x="4711922" y="7761160"/>
            <a:ext cx="247459" cy="551973"/>
          </a:xfrm>
          <a:prstGeom prst="ellipse">
            <a:avLst/>
          </a:prstGeom>
          <a:solidFill>
            <a:srgbClr val="EEEEE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Client Applications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835652" y="8037099"/>
            <a:ext cx="3120199" cy="2426970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103215" y="8976931"/>
            <a:ext cx="5852636" cy="1487138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reeform 41"/>
          <p:cNvSpPr/>
          <p:nvPr/>
        </p:nvSpPr>
        <p:spPr>
          <a:xfrm>
            <a:off x="5833681" y="9231534"/>
            <a:ext cx="4244435" cy="2464975"/>
          </a:xfrm>
          <a:custGeom>
            <a:avLst/>
            <a:gdLst/>
            <a:ahLst/>
            <a:cxnLst/>
            <a:rect l="l" t="t" r="r" b="b"/>
            <a:pathLst>
              <a:path w="4244435" h="2464975">
                <a:moveTo>
                  <a:pt x="0" y="95148"/>
                </a:moveTo>
                <a:lnTo>
                  <a:pt x="95075" y="0"/>
                </a:lnTo>
                <a:lnTo>
                  <a:pt x="4244435" y="0"/>
                </a:lnTo>
                <a:lnTo>
                  <a:pt x="4244435" y="2369827"/>
                </a:lnTo>
                <a:lnTo>
                  <a:pt x="4149360" y="2464975"/>
                </a:lnTo>
                <a:lnTo>
                  <a:pt x="0" y="2464975"/>
                </a:lnTo>
                <a:lnTo>
                  <a:pt x="0" y="95148"/>
                </a:lnTo>
                <a:close/>
              </a:path>
            </a:pathLst>
          </a:custGeom>
          <a:solidFill>
            <a:srgbClr val="E0E0E0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REST API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[(FastAPI + OpenAPI 3.1)]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42875" y="9859708"/>
            <a:ext cx="832866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/meters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18165" y="9859708"/>
            <a:ext cx="923258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/readings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74417" y="9859708"/>
            <a:ext cx="1172432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/usage-points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42875" y="11039856"/>
            <a:ext cx="936212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/analytics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513320" y="11039856"/>
            <a:ext cx="1456848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/delivery-promises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