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6575" cy="114966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step3_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6575" cy="114966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37580" y="143922"/>
            <a:ext cx="29337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Step 3: Gridstream Head-End System (HES)</a:t>
            </a:r>
          </a:p>
        </p:txBody>
      </p:sp>
      <p:sp>
        <p:nvSpPr>
          <p:cNvPr id="4" name="Freeform 3"/>
          <p:cNvSpPr/>
          <p:nvPr/>
        </p:nvSpPr>
        <p:spPr>
          <a:xfrm>
            <a:off x="4092130" y="813435"/>
            <a:ext cx="6442710" cy="970788"/>
          </a:xfrm>
          <a:custGeom>
            <a:avLst/>
            <a:gdLst/>
            <a:ahLst/>
            <a:cxnLst/>
            <a:rect l="l" t="t" r="r" b="b"/>
            <a:pathLst>
              <a:path w="6442710" h="970788">
                <a:moveTo>
                  <a:pt x="0" y="95137"/>
                </a:moveTo>
                <a:lnTo>
                  <a:pt x="95352" y="0"/>
                </a:lnTo>
                <a:lnTo>
                  <a:pt x="6442710" y="0"/>
                </a:lnTo>
                <a:lnTo>
                  <a:pt x="6442710" y="875650"/>
                </a:lnTo>
                <a:lnTo>
                  <a:pt x="6347358" y="970788"/>
                </a:lnTo>
                <a:lnTo>
                  <a:pt x="0" y="970788"/>
                </a:lnTo>
                <a:lnTo>
                  <a:pt x="0" y="95137"/>
                </a:lnTo>
                <a:close/>
              </a:path>
            </a:pathLst>
          </a:custGeom>
          <a:solidFill>
            <a:srgbClr val="E8F5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Smart 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44340" y="1203674"/>
            <a:ext cx="1336833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E350 Residential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12091" y="1203674"/>
            <a:ext cx="1267110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E360 Advanced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14548" y="1203674"/>
            <a:ext cx="1191672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S4x/E650 C&amp;I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41882" y="1203674"/>
            <a:ext cx="1334166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E660/Revelo IoT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12804" y="1415795"/>
            <a:ext cx="1061466" cy="1218153"/>
          </a:xfrm>
          <a:prstGeom prst="line">
            <a:avLst/>
          </a:prstGeom>
          <a:ln w="12700">
            <a:solidFill>
              <a:srgbClr val="66BB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271670" y="1415795"/>
            <a:ext cx="2474024" cy="1218153"/>
          </a:xfrm>
          <a:prstGeom prst="line">
            <a:avLst/>
          </a:prstGeom>
          <a:ln w="12700">
            <a:solidFill>
              <a:srgbClr val="66BB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10337" y="1415795"/>
            <a:ext cx="761333" cy="1218153"/>
          </a:xfrm>
          <a:prstGeom prst="line">
            <a:avLst/>
          </a:prstGeom>
          <a:ln w="12700">
            <a:solidFill>
              <a:srgbClr val="66BB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271670" y="1415795"/>
            <a:ext cx="837343" cy="1218153"/>
          </a:xfrm>
          <a:prstGeom prst="line">
            <a:avLst/>
          </a:prstGeom>
          <a:ln w="12700">
            <a:solidFill>
              <a:srgbClr val="66BB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911851" y="1415795"/>
            <a:ext cx="953" cy="1218153"/>
          </a:xfrm>
          <a:prstGeom prst="line">
            <a:avLst/>
          </a:prstGeom>
          <a:ln w="12700">
            <a:solidFill>
              <a:srgbClr val="66BB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377690" y="1988915"/>
            <a:ext cx="3779805" cy="1131189"/>
          </a:xfrm>
          <a:prstGeom prst="ellipse">
            <a:avLst/>
          </a:prstGeom>
          <a:solidFill>
            <a:srgbClr val="E3F2FD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Communication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3359" y="2421826"/>
            <a:ext cx="861917" cy="424243"/>
          </a:xfrm>
          <a:prstGeom prst="roundRect">
            <a:avLst>
              <a:gd name="adj" fmla="val 22451"/>
            </a:avLst>
          </a:prstGeom>
          <a:solidFill>
            <a:srgbClr val="BBDEFB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RF Mesh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5529" y="2421826"/>
            <a:ext cx="592740" cy="424243"/>
          </a:xfrm>
          <a:prstGeom prst="roundRect">
            <a:avLst>
              <a:gd name="adj" fmla="val 22451"/>
            </a:avLst>
          </a:prstGeom>
          <a:solidFill>
            <a:srgbClr val="BBDEFB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2461" y="2421826"/>
            <a:ext cx="1058322" cy="424243"/>
          </a:xfrm>
          <a:prstGeom prst="roundRect">
            <a:avLst>
              <a:gd name="adj" fmla="val 22451"/>
            </a:avLst>
          </a:prstGeom>
          <a:solidFill>
            <a:srgbClr val="BBDEFB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Cellular LTE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74270" y="2633948"/>
            <a:ext cx="1933956" cy="1605629"/>
          </a:xfrm>
          <a:prstGeom prst="line">
            <a:avLst/>
          </a:prstGeom>
          <a:ln w="25400">
            <a:solidFill>
              <a:srgbClr val="E651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911851" y="2633948"/>
            <a:ext cx="2996375" cy="1605629"/>
          </a:xfrm>
          <a:prstGeom prst="line">
            <a:avLst/>
          </a:prstGeom>
          <a:ln w="25400">
            <a:solidFill>
              <a:srgbClr val="E651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71670" y="2633948"/>
            <a:ext cx="636556" cy="1605629"/>
          </a:xfrm>
          <a:prstGeom prst="line">
            <a:avLst/>
          </a:prstGeom>
          <a:ln w="25400">
            <a:solidFill>
              <a:srgbClr val="E651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5900261" y="3392519"/>
            <a:ext cx="4015930" cy="1694021"/>
          </a:xfrm>
          <a:custGeom>
            <a:avLst/>
            <a:gdLst/>
            <a:ahLst/>
            <a:cxnLst/>
            <a:rect l="l" t="t" r="r" b="b"/>
            <a:pathLst>
              <a:path w="4015930" h="1694021">
                <a:moveTo>
                  <a:pt x="0" y="95204"/>
                </a:moveTo>
                <a:lnTo>
                  <a:pt x="95177" y="0"/>
                </a:lnTo>
                <a:lnTo>
                  <a:pt x="4015930" y="0"/>
                </a:lnTo>
                <a:lnTo>
                  <a:pt x="4015930" y="1598817"/>
                </a:lnTo>
                <a:lnTo>
                  <a:pt x="3920753" y="1694021"/>
                </a:lnTo>
                <a:lnTo>
                  <a:pt x="0" y="1694021"/>
                </a:lnTo>
                <a:lnTo>
                  <a:pt x="0" y="95204"/>
                </a:lnTo>
                <a:close/>
              </a:path>
            </a:pathLst>
          </a:cu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HES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[(Head-End System)]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0056" y="4020693"/>
            <a:ext cx="1621536" cy="840771"/>
          </a:xfrm>
          <a:prstGeom prst="roundRect">
            <a:avLst>
              <a:gd name="adj" fmla="val 11328"/>
            </a:avLst>
          </a:prstGeom>
          <a:solidFill>
            <a:srgbClr val="FFE0B2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Data Collection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[15-min interval reads]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On-demand reads Events &amp; alarms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455" y="4020693"/>
            <a:ext cx="1425035" cy="840771"/>
          </a:xfrm>
          <a:prstGeom prst="roundRect">
            <a:avLst>
              <a:gd name="adj" fmla="val 11328"/>
            </a:avLst>
          </a:prstGeom>
          <a:solidFill>
            <a:srgbClr val="FFE0B2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 Inventory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[Device registry]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Firmware mgmt Comm status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356252" y="4239577"/>
            <a:ext cx="551974" cy="2817114"/>
          </a:xfrm>
          <a:prstGeom prst="line">
            <a:avLst/>
          </a:prstGeom>
          <a:ln w="25400">
            <a:solidFill>
              <a:srgbClr val="E651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94089" y="5529072"/>
            <a:ext cx="8763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65100"/>
                </a:solidFill>
              </a:rPr>
              <a:t>raw readings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2103120" y="4239577"/>
            <a:ext cx="5805106" cy="4482560"/>
          </a:xfrm>
          <a:prstGeom prst="line">
            <a:avLst/>
          </a:prstGeom>
          <a:ln w="12700">
            <a:solidFill>
              <a:srgbClr val="E651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81823" y="6361795"/>
            <a:ext cx="6477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65100"/>
                </a:solidFill>
              </a:rPr>
              <a:t>raw data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8226" y="4239577"/>
            <a:ext cx="47625" cy="5867305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5900261" y="5705189"/>
            <a:ext cx="2912078" cy="2702814"/>
          </a:xfrm>
          <a:custGeom>
            <a:avLst/>
            <a:gdLst/>
            <a:ahLst/>
            <a:cxnLst/>
            <a:rect l="l" t="t" r="r" b="b"/>
            <a:pathLst>
              <a:path w="2912078" h="2702814">
                <a:moveTo>
                  <a:pt x="0" y="95139"/>
                </a:moveTo>
                <a:lnTo>
                  <a:pt x="95225" y="0"/>
                </a:lnTo>
                <a:lnTo>
                  <a:pt x="2912078" y="0"/>
                </a:lnTo>
                <a:lnTo>
                  <a:pt x="2912078" y="2607675"/>
                </a:lnTo>
                <a:lnTo>
                  <a:pt x="2816853" y="2702814"/>
                </a:lnTo>
                <a:lnTo>
                  <a:pt x="0" y="2702814"/>
                </a:lnTo>
                <a:lnTo>
                  <a:pt x="0" y="95139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Core MDMS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[(Meter Data Mgmt)]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2287" y="6333363"/>
            <a:ext cx="947642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455" y="6333363"/>
            <a:ext cx="986313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Estimation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66026" y="7751445"/>
            <a:ext cx="775144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Editing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2103120" y="7056691"/>
            <a:ext cx="5253132" cy="1665446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56252" y="7056691"/>
            <a:ext cx="599599" cy="3050191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199834" y="7285101"/>
            <a:ext cx="3806571" cy="2874168"/>
          </a:xfrm>
          <a:custGeom>
            <a:avLst/>
            <a:gdLst/>
            <a:ahLst/>
            <a:cxnLst/>
            <a:rect l="l" t="t" r="r" b="b"/>
            <a:pathLst>
              <a:path w="3806571" h="2874168">
                <a:moveTo>
                  <a:pt x="0" y="95134"/>
                </a:moveTo>
                <a:lnTo>
                  <a:pt x="95164" y="0"/>
                </a:lnTo>
                <a:lnTo>
                  <a:pt x="3806571" y="0"/>
                </a:lnTo>
                <a:lnTo>
                  <a:pt x="3806571" y="2779033"/>
                </a:lnTo>
                <a:lnTo>
                  <a:pt x="3711407" y="2874168"/>
                </a:lnTo>
                <a:lnTo>
                  <a:pt x="0" y="2874168"/>
                </a:lnTo>
                <a:lnTo>
                  <a:pt x="0" y="95134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Analytics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8244" y="7751445"/>
            <a:ext cx="1368075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Demand Analysis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36457" y="7751445"/>
            <a:ext cx="1459230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Voltage Monitoring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006" y="9502521"/>
            <a:ext cx="1493710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Revenue Protection</a:t>
            </a:r>
          </a:p>
        </p:txBody>
      </p:sp>
      <p:sp>
        <p:nvSpPr>
          <p:cNvPr id="39" name="Oval 38"/>
          <p:cNvSpPr/>
          <p:nvPr/>
        </p:nvSpPr>
        <p:spPr>
          <a:xfrm>
            <a:off x="4711922" y="7608665"/>
            <a:ext cx="247459" cy="551973"/>
          </a:xfrm>
          <a:prstGeom prst="ellipse">
            <a:avLst/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Client Applications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835652" y="7884604"/>
            <a:ext cx="3120199" cy="2222278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103120" y="8722137"/>
            <a:ext cx="5852731" cy="1384745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5833586" y="8874442"/>
            <a:ext cx="4244340" cy="2464975"/>
          </a:xfrm>
          <a:custGeom>
            <a:avLst/>
            <a:gdLst/>
            <a:ahLst/>
            <a:cxnLst/>
            <a:rect l="l" t="t" r="r" b="b"/>
            <a:pathLst>
              <a:path w="4244340" h="2464975">
                <a:moveTo>
                  <a:pt x="0" y="95148"/>
                </a:moveTo>
                <a:lnTo>
                  <a:pt x="95073" y="0"/>
                </a:lnTo>
                <a:lnTo>
                  <a:pt x="4244340" y="0"/>
                </a:lnTo>
                <a:lnTo>
                  <a:pt x="4244340" y="2369827"/>
                </a:lnTo>
                <a:lnTo>
                  <a:pt x="4149267" y="2464975"/>
                </a:lnTo>
                <a:lnTo>
                  <a:pt x="0" y="2464975"/>
                </a:lnTo>
                <a:lnTo>
                  <a:pt x="0" y="95148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REST API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[(FastAPI + OpenAPI 3.1)]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42875" y="9502521"/>
            <a:ext cx="832866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/meters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18165" y="9502521"/>
            <a:ext cx="923258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/readings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74322" y="9502521"/>
            <a:ext cx="1172432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/usage-points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2875" y="10682668"/>
            <a:ext cx="936212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/analytics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13320" y="10682668"/>
            <a:ext cx="1456753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/delivery-promises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