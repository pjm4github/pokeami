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277850" cy="119538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step6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277850" cy="11953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1243" y="143922"/>
            <a:ext cx="23164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Step 6: CIM-Compatible REST API</a:t>
            </a:r>
          </a:p>
        </p:txBody>
      </p:sp>
      <p:sp>
        <p:nvSpPr>
          <p:cNvPr id="4" name="Freeform 3"/>
          <p:cNvSpPr/>
          <p:nvPr/>
        </p:nvSpPr>
        <p:spPr>
          <a:xfrm>
            <a:off x="5729954" y="813435"/>
            <a:ext cx="6443758" cy="970788"/>
          </a:xfrm>
          <a:custGeom>
            <a:avLst/>
            <a:gdLst/>
            <a:ahLst/>
            <a:cxnLst/>
            <a:rect l="l" t="t" r="r" b="b"/>
            <a:pathLst>
              <a:path w="6443758" h="970788">
                <a:moveTo>
                  <a:pt x="0" y="95137"/>
                </a:moveTo>
                <a:lnTo>
                  <a:pt x="95367" y="0"/>
                </a:lnTo>
                <a:lnTo>
                  <a:pt x="6443758" y="0"/>
                </a:lnTo>
                <a:lnTo>
                  <a:pt x="6443758" y="875650"/>
                </a:lnTo>
                <a:lnTo>
                  <a:pt x="6348390" y="970788"/>
                </a:lnTo>
                <a:lnTo>
                  <a:pt x="0" y="970788"/>
                </a:lnTo>
                <a:lnTo>
                  <a:pt x="0" y="95137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Smart 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2258" y="1203674"/>
            <a:ext cx="1337024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E350 Residential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50772" y="1203674"/>
            <a:ext cx="1267301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E360 Advanced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52658" y="1203674"/>
            <a:ext cx="1191863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S4x/E650 C&amp;I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0373" y="1203674"/>
            <a:ext cx="1334357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E660/Revelo IoT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50818" y="1415795"/>
            <a:ext cx="1061657" cy="121824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910066" y="1415795"/>
            <a:ext cx="2474404" cy="121824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48637" y="1415795"/>
            <a:ext cx="761429" cy="121824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910066" y="1415795"/>
            <a:ext cx="837533" cy="121824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549866" y="1415795"/>
            <a:ext cx="952" cy="121824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015608" y="1988915"/>
            <a:ext cx="3780472" cy="1131284"/>
          </a:xfrm>
          <a:prstGeom prst="ellipse">
            <a:avLst/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Communication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81469" y="2421921"/>
            <a:ext cx="862107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RF Mesh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3448" y="2421921"/>
            <a:ext cx="592931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0761" y="2421921"/>
            <a:ext cx="1058513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Cellular LTE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475" y="2634043"/>
            <a:ext cx="1691545" cy="140103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49866" y="2634043"/>
            <a:ext cx="2754154" cy="140103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10066" y="2634043"/>
            <a:ext cx="393954" cy="140103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7538370" y="3392709"/>
            <a:ext cx="3531203" cy="1284828"/>
          </a:xfrm>
          <a:custGeom>
            <a:avLst/>
            <a:gdLst/>
            <a:ahLst/>
            <a:cxnLst/>
            <a:rect l="l" t="t" r="r" b="b"/>
            <a:pathLst>
              <a:path w="3531203" h="1284828">
                <a:moveTo>
                  <a:pt x="0" y="95206"/>
                </a:moveTo>
                <a:lnTo>
                  <a:pt x="95343" y="0"/>
                </a:lnTo>
                <a:lnTo>
                  <a:pt x="3531203" y="0"/>
                </a:lnTo>
                <a:lnTo>
                  <a:pt x="3531203" y="1189622"/>
                </a:lnTo>
                <a:lnTo>
                  <a:pt x="3435861" y="1284828"/>
                </a:lnTo>
                <a:lnTo>
                  <a:pt x="0" y="1284828"/>
                </a:lnTo>
                <a:lnTo>
                  <a:pt x="0" y="95206"/>
                </a:lnTo>
                <a:close/>
              </a:path>
            </a:pathLst>
          </a:custGeom>
          <a:solidFill>
            <a:srgbClr val="FFF3E0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HES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[(Head-End System)]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89579" y="4020788"/>
            <a:ext cx="1248346" cy="424243"/>
          </a:xfrm>
          <a:prstGeom prst="roundRect">
            <a:avLst>
              <a:gd name="adj" fmla="val 22451"/>
            </a:avLst>
          </a:prstGeom>
          <a:solidFill>
            <a:srgbClr val="FFE0B2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 Collection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2422" y="4020788"/>
            <a:ext cx="1305877" cy="424243"/>
          </a:xfrm>
          <a:prstGeom prst="roundRect">
            <a:avLst>
              <a:gd name="adj" fmla="val 22451"/>
            </a:avLst>
          </a:prstGeom>
          <a:solidFill>
            <a:srgbClr val="FFE0B2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 Inventory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994648" y="4035075"/>
            <a:ext cx="309372" cy="2764822"/>
          </a:xfrm>
          <a:prstGeom prst="line">
            <a:avLst/>
          </a:prstGeom>
          <a:ln w="12700">
            <a:solidFill>
              <a:srgbClr val="FFA7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711184" y="5298424"/>
            <a:ext cx="876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FA726"/>
                </a:solidFill>
              </a:rPr>
              <a:t>raw readings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103501" y="4035075"/>
            <a:ext cx="7200519" cy="4727829"/>
          </a:xfrm>
          <a:prstGeom prst="line">
            <a:avLst/>
          </a:prstGeom>
          <a:ln w="12700">
            <a:solidFill>
              <a:srgbClr val="9575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79910" y="6279927"/>
            <a:ext cx="6477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575CD"/>
                </a:solidFill>
              </a:rPr>
              <a:t>raw data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04020" y="4035075"/>
            <a:ext cx="718661" cy="6326696"/>
          </a:xfrm>
          <a:prstGeom prst="line">
            <a:avLst/>
          </a:prstGeom>
          <a:ln w="254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96550" y="7079361"/>
            <a:ext cx="2133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C62828"/>
                </a:solidFill>
              </a:rPr>
              <a:t>meter inventory &amp; raw readings&lt;/b&gt;</a:t>
            </a:r>
          </a:p>
        </p:txBody>
      </p:sp>
      <p:sp>
        <p:nvSpPr>
          <p:cNvPr id="30" name="Freeform 29"/>
          <p:cNvSpPr/>
          <p:nvPr/>
        </p:nvSpPr>
        <p:spPr>
          <a:xfrm>
            <a:off x="7538370" y="5296185"/>
            <a:ext cx="2912555" cy="3007519"/>
          </a:xfrm>
          <a:custGeom>
            <a:avLst/>
            <a:gdLst/>
            <a:ahLst/>
            <a:cxnLst/>
            <a:rect l="l" t="t" r="r" b="b"/>
            <a:pathLst>
              <a:path w="2912555" h="3007519">
                <a:moveTo>
                  <a:pt x="0" y="95038"/>
                </a:moveTo>
                <a:lnTo>
                  <a:pt x="95241" y="0"/>
                </a:lnTo>
                <a:lnTo>
                  <a:pt x="2912555" y="0"/>
                </a:lnTo>
                <a:lnTo>
                  <a:pt x="2912555" y="2912481"/>
                </a:lnTo>
                <a:lnTo>
                  <a:pt x="2817314" y="3007519"/>
                </a:lnTo>
                <a:lnTo>
                  <a:pt x="0" y="3007519"/>
                </a:lnTo>
                <a:lnTo>
                  <a:pt x="0" y="95038"/>
                </a:lnTo>
                <a:close/>
              </a:path>
            </a:pathLst>
          </a:custGeom>
          <a:solidFill>
            <a:srgbClr val="E8F5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Core MDMS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[(Meter Data Mgmt)]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70682" y="5924264"/>
            <a:ext cx="947832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47660" y="5924264"/>
            <a:ext cx="986504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Estimation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04326" y="7646955"/>
            <a:ext cx="775239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Editing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103501" y="6799897"/>
            <a:ext cx="6891147" cy="1963007"/>
          </a:xfrm>
          <a:prstGeom prst="line">
            <a:avLst/>
          </a:prstGeom>
          <a:ln w="12700">
            <a:solidFill>
              <a:srgbClr val="9575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53774" y="7662338"/>
            <a:ext cx="990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575CD"/>
                </a:solidFill>
              </a:rPr>
              <a:t>validated data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94648" y="6799897"/>
            <a:ext cx="1028033" cy="3561874"/>
          </a:xfrm>
          <a:prstGeom prst="line">
            <a:avLst/>
          </a:prstGeom>
          <a:ln w="254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899064" y="8461771"/>
            <a:ext cx="12192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C62828"/>
                </a:solidFill>
              </a:rPr>
              <a:t>validated readings</a:t>
            </a:r>
          </a:p>
        </p:txBody>
      </p:sp>
      <p:sp>
        <p:nvSpPr>
          <p:cNvPr id="38" name="Freeform 37"/>
          <p:cNvSpPr/>
          <p:nvPr/>
        </p:nvSpPr>
        <p:spPr>
          <a:xfrm>
            <a:off x="199834" y="7180611"/>
            <a:ext cx="3807238" cy="3164586"/>
          </a:xfrm>
          <a:custGeom>
            <a:avLst/>
            <a:gdLst/>
            <a:ahLst/>
            <a:cxnLst/>
            <a:rect l="l" t="t" r="r" b="b"/>
            <a:pathLst>
              <a:path w="3807238" h="3164586">
                <a:moveTo>
                  <a:pt x="0" y="95254"/>
                </a:moveTo>
                <a:lnTo>
                  <a:pt x="95181" y="0"/>
                </a:lnTo>
                <a:lnTo>
                  <a:pt x="3807238" y="0"/>
                </a:lnTo>
                <a:lnTo>
                  <a:pt x="3807238" y="3069332"/>
                </a:lnTo>
                <a:lnTo>
                  <a:pt x="3712057" y="3164586"/>
                </a:lnTo>
                <a:lnTo>
                  <a:pt x="0" y="3164586"/>
                </a:lnTo>
                <a:lnTo>
                  <a:pt x="0" y="95254"/>
                </a:lnTo>
                <a:close/>
              </a:path>
            </a:pathLst>
          </a:custGeom>
          <a:solidFill>
            <a:srgbClr val="EDE7F6"/>
          </a:solidFill>
          <a:ln w="12700">
            <a:solidFill>
              <a:srgbClr val="957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Analytics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8339" y="7646955"/>
            <a:ext cx="1368361" cy="424243"/>
          </a:xfrm>
          <a:prstGeom prst="roundRect">
            <a:avLst>
              <a:gd name="adj" fmla="val 22451"/>
            </a:avLst>
          </a:prstGeom>
          <a:solidFill>
            <a:srgbClr val="D1C4E9"/>
          </a:solidFill>
          <a:ln w="12700">
            <a:solidFill>
              <a:srgbClr val="957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Demand Analysis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36838" y="7646955"/>
            <a:ext cx="1459515" cy="424243"/>
          </a:xfrm>
          <a:prstGeom prst="roundRect">
            <a:avLst>
              <a:gd name="adj" fmla="val 22451"/>
            </a:avLst>
          </a:prstGeom>
          <a:solidFill>
            <a:srgbClr val="D1C4E9"/>
          </a:solidFill>
          <a:ln w="12700">
            <a:solidFill>
              <a:srgbClr val="957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Voltage Monitoring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3101" y="9688449"/>
            <a:ext cx="1493996" cy="424243"/>
          </a:xfrm>
          <a:prstGeom prst="roundRect">
            <a:avLst>
              <a:gd name="adj" fmla="val 22451"/>
            </a:avLst>
          </a:prstGeom>
          <a:solidFill>
            <a:srgbClr val="D1C4E9"/>
          </a:solidFill>
          <a:ln w="12700">
            <a:solidFill>
              <a:srgbClr val="957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Revenue Protection</a:t>
            </a:r>
          </a:p>
        </p:txBody>
      </p:sp>
      <p:sp>
        <p:nvSpPr>
          <p:cNvPr id="42" name="Oval 41"/>
          <p:cNvSpPr/>
          <p:nvPr/>
        </p:nvSpPr>
        <p:spPr>
          <a:xfrm>
            <a:off x="5055393" y="7504176"/>
            <a:ext cx="247459" cy="551973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Client Applications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179123" y="7780210"/>
            <a:ext cx="4843558" cy="2581561"/>
          </a:xfrm>
          <a:prstGeom prst="line">
            <a:avLst/>
          </a:prstGeom>
          <a:ln w="254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934152" y="8951928"/>
            <a:ext cx="13335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C62828"/>
                </a:solidFill>
              </a:rPr>
              <a:t>HTTP GET + X-API-Key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103501" y="8762904"/>
            <a:ext cx="7919180" cy="1598867"/>
          </a:xfrm>
          <a:prstGeom prst="line">
            <a:avLst/>
          </a:prstGeom>
          <a:ln w="254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710666" y="9443275"/>
            <a:ext cx="7048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C62828"/>
                </a:solidFill>
              </a:rPr>
              <a:t>analytics</a:t>
            </a:r>
          </a:p>
        </p:txBody>
      </p:sp>
      <p:sp>
        <p:nvSpPr>
          <p:cNvPr id="47" name="Freeform 46"/>
          <p:cNvSpPr/>
          <p:nvPr/>
        </p:nvSpPr>
        <p:spPr>
          <a:xfrm>
            <a:off x="6929247" y="8922258"/>
            <a:ext cx="6186773" cy="2879026"/>
          </a:xfrm>
          <a:custGeom>
            <a:avLst/>
            <a:gdLst/>
            <a:ahLst/>
            <a:cxnLst/>
            <a:rect l="l" t="t" r="r" b="b"/>
            <a:pathLst>
              <a:path w="6186773" h="2879026">
                <a:moveTo>
                  <a:pt x="0" y="95295"/>
                </a:moveTo>
                <a:lnTo>
                  <a:pt x="95276" y="0"/>
                </a:lnTo>
                <a:lnTo>
                  <a:pt x="6186773" y="0"/>
                </a:lnTo>
                <a:lnTo>
                  <a:pt x="6186773" y="2783730"/>
                </a:lnTo>
                <a:lnTo>
                  <a:pt x="6091496" y="2879026"/>
                </a:lnTo>
                <a:lnTo>
                  <a:pt x="0" y="2879026"/>
                </a:lnTo>
                <a:lnTo>
                  <a:pt x="0" y="95295"/>
                </a:lnTo>
                <a:close/>
              </a:path>
            </a:pathLst>
          </a:cu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REST API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[(FastAPI + OpenAPI 3.1)]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38536" y="9550431"/>
            <a:ext cx="1561242" cy="701897"/>
          </a:xfrm>
          <a:prstGeom prst="roundRect">
            <a:avLst>
              <a:gd name="adj" fmla="val 13569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/meters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[List, filter, inspect]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EndDevice inventory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7345" y="9550431"/>
            <a:ext cx="1840992" cy="701897"/>
          </a:xfrm>
          <a:prstGeom prst="roundRect">
            <a:avLst>
              <a:gd name="adj" fmla="val 13569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/readings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[Raw &amp; validated intervals]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/interval-blocks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07521" y="9550431"/>
            <a:ext cx="1471422" cy="701897"/>
          </a:xfrm>
          <a:prstGeom prst="roundRect">
            <a:avLst>
              <a:gd name="adj" fmla="val 13569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/usage-points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[Service locations]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Customer mapping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71778" y="10868596"/>
            <a:ext cx="1496377" cy="701897"/>
          </a:xfrm>
          <a:prstGeom prst="roundRect">
            <a:avLst>
              <a:gd name="adj" fmla="val 13569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/analytics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[Demand · Voltage]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Revenue protection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04102" y="10868596"/>
            <a:ext cx="2096547" cy="701897"/>
          </a:xfrm>
          <a:prstGeom prst="roundRect">
            <a:avLst>
              <a:gd name="adj" fmla="val 13569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/delivery-promises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[Async on-demand reads]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Poll status · Per-meter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