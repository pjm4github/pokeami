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306175" cy="116776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step5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06175" cy="116776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26681" y="143922"/>
            <a:ext cx="2110739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Step 5: Gridstream Analytics</a:t>
            </a:r>
          </a:p>
        </p:txBody>
      </p:sp>
      <p:sp>
        <p:nvSpPr>
          <p:cNvPr id="4" name="Freeform 3"/>
          <p:cNvSpPr/>
          <p:nvPr/>
        </p:nvSpPr>
        <p:spPr>
          <a:xfrm>
            <a:off x="4701349" y="813435"/>
            <a:ext cx="6442996" cy="970788"/>
          </a:xfrm>
          <a:custGeom>
            <a:avLst/>
            <a:gdLst/>
            <a:ahLst/>
            <a:cxnLst/>
            <a:rect l="l" t="t" r="r" b="b"/>
            <a:pathLst>
              <a:path w="6442996" h="970788">
                <a:moveTo>
                  <a:pt x="0" y="95137"/>
                </a:moveTo>
                <a:lnTo>
                  <a:pt x="95356" y="0"/>
                </a:lnTo>
                <a:lnTo>
                  <a:pt x="6442996" y="0"/>
                </a:lnTo>
                <a:lnTo>
                  <a:pt x="6442996" y="875650"/>
                </a:lnTo>
                <a:lnTo>
                  <a:pt x="6347639" y="970788"/>
                </a:lnTo>
                <a:lnTo>
                  <a:pt x="0" y="970788"/>
                </a:lnTo>
                <a:lnTo>
                  <a:pt x="0" y="95137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Smart 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53654" y="1203674"/>
            <a:ext cx="1336833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E350 Residential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21596" y="1203674"/>
            <a:ext cx="1267206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E360 Advanced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3863" y="1203674"/>
            <a:ext cx="1191672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S4x/E650 C&amp;I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51387" y="1203674"/>
            <a:ext cx="1334166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E660/Revelo IoT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22118" y="1415795"/>
            <a:ext cx="1061562" cy="1218153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881080" y="1415795"/>
            <a:ext cx="2474119" cy="1218153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19747" y="1415795"/>
            <a:ext cx="761333" cy="1218153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881080" y="1415795"/>
            <a:ext cx="837438" cy="1218153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521166" y="1415795"/>
            <a:ext cx="952" cy="1218153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987004" y="1988915"/>
            <a:ext cx="3779996" cy="1131189"/>
          </a:xfrm>
          <a:prstGeom prst="ellipse">
            <a:avLst/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Communication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2769" y="2421826"/>
            <a:ext cx="861917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RF Mesh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4843" y="2421826"/>
            <a:ext cx="592836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51871" y="2421826"/>
            <a:ext cx="1058418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Cellular LTE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0" y="2633948"/>
            <a:ext cx="1691354" cy="1401032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21166" y="2633948"/>
            <a:ext cx="2753868" cy="1401032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81080" y="2633948"/>
            <a:ext cx="393954" cy="1401032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6509575" y="3392614"/>
            <a:ext cx="3530822" cy="1284827"/>
          </a:xfrm>
          <a:custGeom>
            <a:avLst/>
            <a:gdLst/>
            <a:ahLst/>
            <a:cxnLst/>
            <a:rect l="l" t="t" r="r" b="b"/>
            <a:pathLst>
              <a:path w="3530822" h="1284827">
                <a:moveTo>
                  <a:pt x="0" y="95206"/>
                </a:moveTo>
                <a:lnTo>
                  <a:pt x="95332" y="0"/>
                </a:lnTo>
                <a:lnTo>
                  <a:pt x="3530822" y="0"/>
                </a:lnTo>
                <a:lnTo>
                  <a:pt x="3530822" y="1189622"/>
                </a:lnTo>
                <a:lnTo>
                  <a:pt x="3435490" y="1284827"/>
                </a:lnTo>
                <a:lnTo>
                  <a:pt x="0" y="1284827"/>
                </a:lnTo>
                <a:lnTo>
                  <a:pt x="0" y="95206"/>
                </a:lnTo>
                <a:close/>
              </a:path>
            </a:pathLst>
          </a:custGeom>
          <a:solidFill>
            <a:srgbClr val="FFF3E0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HES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[(Head-End System)]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0498" y="4020788"/>
            <a:ext cx="1248156" cy="424243"/>
          </a:xfrm>
          <a:prstGeom prst="roundRect">
            <a:avLst>
              <a:gd name="adj" fmla="val 22451"/>
            </a:avLst>
          </a:prstGeom>
          <a:solidFill>
            <a:srgbClr val="FFE0B2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Data Collection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23627" y="4020788"/>
            <a:ext cx="1305687" cy="424243"/>
          </a:xfrm>
          <a:prstGeom prst="roundRect">
            <a:avLst>
              <a:gd name="adj" fmla="val 22451"/>
            </a:avLst>
          </a:prstGeom>
          <a:solidFill>
            <a:srgbClr val="FFE0B2"/>
          </a:solidFill>
          <a:ln w="127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 Inventory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965757" y="4034980"/>
            <a:ext cx="309277" cy="2791016"/>
          </a:xfrm>
          <a:prstGeom prst="line">
            <a:avLst/>
          </a:prstGeom>
          <a:ln w="12700">
            <a:solidFill>
              <a:srgbClr val="FFA7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82245" y="5311425"/>
            <a:ext cx="8763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FFA726"/>
                </a:solidFill>
              </a:rPr>
              <a:t>raw readings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2407824" y="4034980"/>
            <a:ext cx="5867210" cy="4651629"/>
          </a:xfrm>
          <a:prstGeom prst="line">
            <a:avLst/>
          </a:prstGeom>
          <a:ln w="25400">
            <a:solidFill>
              <a:srgbClr val="6A1B9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60429" y="6241732"/>
            <a:ext cx="7620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A1B9A"/>
                </a:solidFill>
              </a:rPr>
              <a:t>raw data →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75034" y="4034980"/>
            <a:ext cx="290227" cy="6155341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6509575" y="5296090"/>
            <a:ext cx="2912174" cy="3059811"/>
          </a:xfrm>
          <a:custGeom>
            <a:avLst/>
            <a:gdLst/>
            <a:ahLst/>
            <a:cxnLst/>
            <a:rect l="l" t="t" r="r" b="b"/>
            <a:pathLst>
              <a:path w="2912174" h="3059811">
                <a:moveTo>
                  <a:pt x="0" y="95160"/>
                </a:moveTo>
                <a:lnTo>
                  <a:pt x="95228" y="0"/>
                </a:lnTo>
                <a:lnTo>
                  <a:pt x="2912174" y="0"/>
                </a:lnTo>
                <a:lnTo>
                  <a:pt x="2912174" y="2964651"/>
                </a:lnTo>
                <a:lnTo>
                  <a:pt x="2816945" y="3059811"/>
                </a:lnTo>
                <a:lnTo>
                  <a:pt x="0" y="3059811"/>
                </a:lnTo>
                <a:lnTo>
                  <a:pt x="0" y="95160"/>
                </a:lnTo>
                <a:close/>
              </a:path>
            </a:pathLst>
          </a:custGeom>
          <a:solidFill>
            <a:srgbClr val="E8F5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Core MDMS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[(Meter Data Mgmt)]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41696" y="5924169"/>
            <a:ext cx="947737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18864" y="5924169"/>
            <a:ext cx="986313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Estimation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42511" y="7699152"/>
            <a:ext cx="775144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Editing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2407824" y="6825996"/>
            <a:ext cx="5557933" cy="1860613"/>
          </a:xfrm>
          <a:prstGeom prst="line">
            <a:avLst/>
          </a:prstGeom>
          <a:ln w="25400">
            <a:solidFill>
              <a:srgbClr val="6A1B9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634341" y="7637240"/>
            <a:ext cx="11049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A1B9A"/>
                </a:solidFill>
              </a:rPr>
              <a:t>validated data →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65757" y="6825996"/>
            <a:ext cx="599504" cy="3364325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99834" y="7028211"/>
            <a:ext cx="4415885" cy="3316796"/>
          </a:xfrm>
          <a:custGeom>
            <a:avLst/>
            <a:gdLst/>
            <a:ahLst/>
            <a:cxnLst/>
            <a:rect l="l" t="t" r="r" b="b"/>
            <a:pathLst>
              <a:path w="4415885" h="3316796">
                <a:moveTo>
                  <a:pt x="0" y="95192"/>
                </a:moveTo>
                <a:lnTo>
                  <a:pt x="95383" y="0"/>
                </a:lnTo>
                <a:lnTo>
                  <a:pt x="4415885" y="0"/>
                </a:lnTo>
                <a:lnTo>
                  <a:pt x="4415885" y="3221604"/>
                </a:lnTo>
                <a:lnTo>
                  <a:pt x="4320502" y="3316796"/>
                </a:lnTo>
                <a:lnTo>
                  <a:pt x="0" y="3316796"/>
                </a:lnTo>
                <a:lnTo>
                  <a:pt x="0" y="95192"/>
                </a:lnTo>
                <a:close/>
              </a:path>
            </a:pathLst>
          </a:custGeom>
          <a:solidFill>
            <a:srgbClr val="EDE7F6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Analytics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3006" y="7494555"/>
            <a:ext cx="1837182" cy="840771"/>
          </a:xfrm>
          <a:prstGeom prst="roundRect">
            <a:avLst>
              <a:gd name="adj" fmla="val 11328"/>
            </a:avLst>
          </a:prstGeom>
          <a:solidFill>
            <a:srgbClr val="D1C4E9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Demand Analysis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[Peak / Avg / Min demand]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Load factor Time-of-use profiles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07659" y="7494555"/>
            <a:ext cx="1602867" cy="840771"/>
          </a:xfrm>
          <a:prstGeom prst="roundRect">
            <a:avLst>
              <a:gd name="adj" fmla="val 11328"/>
            </a:avLst>
          </a:prstGeom>
          <a:solidFill>
            <a:srgbClr val="D1C4E9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Voltage Monitoring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[ANSI C84.1 Range A]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±5% of nominal Exceedance counts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869" y="9279064"/>
            <a:ext cx="1754124" cy="840771"/>
          </a:xfrm>
          <a:prstGeom prst="roundRect">
            <a:avLst>
              <a:gd name="adj" fmla="val 11328"/>
            </a:avLst>
          </a:prstGeom>
          <a:solidFill>
            <a:srgbClr val="D1C4E9"/>
          </a:solidFill>
          <a:ln w="1270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Revenue Protection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[Tamper detection]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Reverse flow alerts Consumption anomalies</a:t>
            </a:r>
          </a:p>
        </p:txBody>
      </p:sp>
      <p:sp>
        <p:nvSpPr>
          <p:cNvPr id="40" name="Oval 39"/>
          <p:cNvSpPr/>
          <p:nvPr/>
        </p:nvSpPr>
        <p:spPr>
          <a:xfrm>
            <a:off x="5321236" y="7556373"/>
            <a:ext cx="247459" cy="551973"/>
          </a:xfrm>
          <a:prstGeom prst="ellipse">
            <a:avLst/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Client Applications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44966" y="7832407"/>
            <a:ext cx="3120295" cy="2357914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407824" y="8686609"/>
            <a:ext cx="6157437" cy="1503712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6442995" y="8855487"/>
            <a:ext cx="4244531" cy="2669572"/>
          </a:xfrm>
          <a:custGeom>
            <a:avLst/>
            <a:gdLst/>
            <a:ahLst/>
            <a:cxnLst/>
            <a:rect l="l" t="t" r="r" b="b"/>
            <a:pathLst>
              <a:path w="4244531" h="2669572">
                <a:moveTo>
                  <a:pt x="0" y="95304"/>
                </a:moveTo>
                <a:lnTo>
                  <a:pt x="95078" y="0"/>
                </a:lnTo>
                <a:lnTo>
                  <a:pt x="4244531" y="0"/>
                </a:lnTo>
                <a:lnTo>
                  <a:pt x="4244531" y="2574268"/>
                </a:lnTo>
                <a:lnTo>
                  <a:pt x="4149453" y="2669572"/>
                </a:lnTo>
                <a:lnTo>
                  <a:pt x="0" y="2669572"/>
                </a:lnTo>
                <a:lnTo>
                  <a:pt x="0" y="95304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REST API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[(FastAPI + OpenAPI 3.1)]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2189" y="9483661"/>
            <a:ext cx="832961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/meters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27574" y="9483661"/>
            <a:ext cx="923353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/readings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83827" y="9483661"/>
            <a:ext cx="1172527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/usage-points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2189" y="10868406"/>
            <a:ext cx="936307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/analytics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22729" y="10868406"/>
            <a:ext cx="1456848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/delivery-promises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