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001875" cy="116967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onent_step1_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001875" cy="11696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22156" y="143922"/>
            <a:ext cx="1904999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</a:rPr>
              <a:t>PokeAMI — Simulator Layer</a:t>
            </a:r>
          </a:p>
        </p:txBody>
      </p:sp>
      <p:sp>
        <p:nvSpPr>
          <p:cNvPr id="4" name="Freeform 3"/>
          <p:cNvSpPr/>
          <p:nvPr/>
        </p:nvSpPr>
        <p:spPr>
          <a:xfrm>
            <a:off x="104679" y="813435"/>
            <a:ext cx="9233345" cy="2236565"/>
          </a:xfrm>
          <a:custGeom>
            <a:avLst/>
            <a:gdLst/>
            <a:ahLst/>
            <a:cxnLst/>
            <a:rect l="l" t="t" r="r" b="b"/>
            <a:pathLst>
              <a:path w="9233345" h="2236565">
                <a:moveTo>
                  <a:pt x="24007" y="0"/>
                </a:moveTo>
                <a:lnTo>
                  <a:pt x="768215" y="0"/>
                </a:lnTo>
                <a:lnTo>
                  <a:pt x="792221" y="23707"/>
                </a:lnTo>
                <a:lnTo>
                  <a:pt x="858701" y="218959"/>
                </a:lnTo>
                <a:lnTo>
                  <a:pt x="9209338" y="218959"/>
                </a:lnTo>
                <a:lnTo>
                  <a:pt x="9233345" y="242890"/>
                </a:lnTo>
                <a:lnTo>
                  <a:pt x="9233345" y="2212857"/>
                </a:lnTo>
                <a:lnTo>
                  <a:pt x="9209338" y="2236565"/>
                </a:lnTo>
                <a:lnTo>
                  <a:pt x="24007" y="2236565"/>
                </a:lnTo>
                <a:lnTo>
                  <a:pt x="0" y="2212857"/>
                </a:lnTo>
                <a:lnTo>
                  <a:pt x="0" y="23707"/>
                </a:lnTo>
                <a:lnTo>
                  <a:pt x="24007" y="0"/>
                </a:lnTo>
                <a:close/>
              </a:path>
            </a:pathLst>
          </a:cu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API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984" y="1156049"/>
            <a:ext cx="1575816" cy="435864"/>
          </a:xfrm>
          <a:prstGeom prst="roundRect">
            <a:avLst>
              <a:gd name="adj" fmla="val 21853"/>
            </a:avLst>
          </a:prstGeom>
          <a:solidFill>
            <a:srgbClr val="EEEEE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FastAPI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70366" y="1156049"/>
            <a:ext cx="1256823" cy="435864"/>
          </a:xfrm>
          <a:prstGeom prst="roundRect">
            <a:avLst>
              <a:gd name="adj" fmla="val 21853"/>
            </a:avLst>
          </a:prstGeom>
          <a:solidFill>
            <a:srgbClr val="EEEEE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Meters Router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64756" y="1156049"/>
            <a:ext cx="1404080" cy="435864"/>
          </a:xfrm>
          <a:prstGeom prst="roundRect">
            <a:avLst>
              <a:gd name="adj" fmla="val 21853"/>
            </a:avLst>
          </a:prstGeom>
          <a:solidFill>
            <a:srgbClr val="EEEEE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Readings Router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97163" y="1156049"/>
            <a:ext cx="1395126" cy="435864"/>
          </a:xfrm>
          <a:prstGeom prst="roundRect">
            <a:avLst>
              <a:gd name="adj" fmla="val 21853"/>
            </a:avLst>
          </a:prstGeom>
          <a:solidFill>
            <a:srgbClr val="EEEEE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Analytics Router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9665" y="1156049"/>
            <a:ext cx="1951958" cy="435864"/>
          </a:xfrm>
          <a:prstGeom prst="roundRect">
            <a:avLst>
              <a:gd name="adj" fmla="val 21853"/>
            </a:avLst>
          </a:prstGeom>
          <a:solidFill>
            <a:srgbClr val="EEEEE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Delivery Promises Router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946" y="2459926"/>
            <a:ext cx="1416558" cy="435864"/>
          </a:xfrm>
          <a:prstGeom prst="roundRect">
            <a:avLst>
              <a:gd name="adj" fmla="val 21853"/>
            </a:avLst>
          </a:prstGeom>
          <a:solidFill>
            <a:srgbClr val="EEEEE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Auth Middleware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44987" y="1373981"/>
            <a:ext cx="1239" cy="1303877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44987" y="1373981"/>
            <a:ext cx="9499950" cy="1302925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98635" y="1373981"/>
            <a:ext cx="7746302" cy="1302925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66748" y="1373981"/>
            <a:ext cx="6078189" cy="1302925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194774" y="1373981"/>
            <a:ext cx="4350163" cy="1302925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205597" y="1373981"/>
            <a:ext cx="2339340" cy="1302925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reeform 16"/>
          <p:cNvSpPr/>
          <p:nvPr/>
        </p:nvSpPr>
        <p:spPr>
          <a:xfrm>
            <a:off x="9566529" y="2041207"/>
            <a:ext cx="5321141" cy="9593390"/>
          </a:xfrm>
          <a:custGeom>
            <a:avLst/>
            <a:gdLst/>
            <a:ahLst/>
            <a:cxnLst/>
            <a:rect l="l" t="t" r="r" b="b"/>
            <a:pathLst>
              <a:path w="5321141" h="9593390">
                <a:moveTo>
                  <a:pt x="23945" y="0"/>
                </a:moveTo>
                <a:lnTo>
                  <a:pt x="1223330" y="0"/>
                </a:lnTo>
                <a:lnTo>
                  <a:pt x="1247275" y="23983"/>
                </a:lnTo>
                <a:lnTo>
                  <a:pt x="1313789" y="218729"/>
                </a:lnTo>
                <a:lnTo>
                  <a:pt x="5297196" y="218729"/>
                </a:lnTo>
                <a:lnTo>
                  <a:pt x="5321141" y="242713"/>
                </a:lnTo>
                <a:lnTo>
                  <a:pt x="5321141" y="9569406"/>
                </a:lnTo>
                <a:lnTo>
                  <a:pt x="5297196" y="9593390"/>
                </a:lnTo>
                <a:lnTo>
                  <a:pt x="23945" y="9593390"/>
                </a:lnTo>
                <a:lnTo>
                  <a:pt x="0" y="9569406"/>
                </a:lnTo>
                <a:lnTo>
                  <a:pt x="0" y="23983"/>
                </a:lnTo>
                <a:lnTo>
                  <a:pt x="23945" y="0"/>
                </a:lnTo>
                <a:close/>
              </a:path>
            </a:pathLst>
          </a:cu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Simulator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23596" y="2383821"/>
            <a:ext cx="1642586" cy="586263"/>
          </a:xfrm>
          <a:prstGeom prst="roundRect">
            <a:avLst>
              <a:gd name="adj" fmla="val 16246"/>
            </a:avLst>
          </a:prstGeom>
          <a:solidFill>
            <a:srgbClr val="BBDEFB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SimulatorEngine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[Facade / entry point]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764928" y="3706653"/>
            <a:ext cx="1958244" cy="886968"/>
          </a:xfrm>
          <a:prstGeom prst="roundRect">
            <a:avLst>
              <a:gd name="adj" fmla="val 10738"/>
            </a:avLst>
          </a:prstGeom>
          <a:solidFill>
            <a:srgbClr val="FFE0B2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Delivery Manager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[On-demand reads]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Comm latency simulation Promise lifecycle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65999" y="4877276"/>
            <a:ext cx="1589341" cy="736663"/>
          </a:xfrm>
          <a:prstGeom prst="roundRect">
            <a:avLst>
              <a:gd name="adj" fmla="val 12928"/>
            </a:avLst>
          </a:prstGeom>
          <a:solidFill>
            <a:srgbClr val="D1C4E9"/>
          </a:solidFill>
          <a:ln w="1270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Analytics Engine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[Demand · Voltage]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Revenue protection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556015" y="5895689"/>
            <a:ext cx="1158335" cy="886968"/>
          </a:xfrm>
          <a:prstGeom prst="roundRect">
            <a:avLst>
              <a:gd name="adj" fmla="val 10738"/>
            </a:avLst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MDM (VEE)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[Validation]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Estimation Editing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23220" y="7513605"/>
            <a:ext cx="1585722" cy="736663"/>
          </a:xfrm>
          <a:prstGeom prst="roundRect">
            <a:avLst>
              <a:gd name="adj" fmla="val 12928"/>
            </a:avLst>
          </a:prstGeom>
          <a:solidFill>
            <a:srgbClr val="FFF3E0"/>
          </a:solidFill>
          <a:ln w="127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Headend (HES)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[Raw data collection]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&amp; meter inventory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47408" y="8979217"/>
            <a:ext cx="1391697" cy="886968"/>
          </a:xfrm>
          <a:prstGeom prst="roundRect">
            <a:avLst>
              <a:gd name="adj" fmla="val 10738"/>
            </a:avLst>
          </a:prstGeom>
          <a:solidFill>
            <a:srgbClr val="FFECB3"/>
          </a:solidFill>
          <a:ln w="1270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Meter Park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[Fleet generation]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50 L+G meters UsagePoints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85202" y="10597134"/>
            <a:ext cx="1501330" cy="886968"/>
          </a:xfrm>
          <a:prstGeom prst="roundRect">
            <a:avLst>
              <a:gd name="adj" fmla="val 10738"/>
            </a:avLst>
          </a:prstGeom>
          <a:solidFill>
            <a:srgbClr val="FFECB3"/>
          </a:solidFill>
          <a:ln w="1270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Data Generator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[Load curves]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Seasonal patterns Quality injection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544937" y="2676906"/>
            <a:ext cx="771239" cy="5205031"/>
          </a:xfrm>
          <a:prstGeom prst="line">
            <a:avLst/>
          </a:prstGeom>
          <a:ln w="25400">
            <a:solidFill>
              <a:srgbClr val="1E88E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606706" y="5160359"/>
            <a:ext cx="6477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E88E5"/>
                </a:solidFill>
              </a:rPr>
              <a:t>raw data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544937" y="2676906"/>
            <a:ext cx="1590294" cy="3662267"/>
          </a:xfrm>
          <a:prstGeom prst="line">
            <a:avLst/>
          </a:prstGeom>
          <a:ln w="25400">
            <a:solidFill>
              <a:srgbClr val="1E88E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844784" y="4388977"/>
            <a:ext cx="9906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E88E5"/>
                </a:solidFill>
              </a:rPr>
              <a:t>validated data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544937" y="2676906"/>
            <a:ext cx="915733" cy="2568702"/>
          </a:xfrm>
          <a:prstGeom prst="line">
            <a:avLst/>
          </a:prstGeom>
          <a:ln w="25400">
            <a:solidFill>
              <a:srgbClr val="1E88E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650378" y="3842194"/>
            <a:ext cx="7048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E88E5"/>
                </a:solidFill>
              </a:rPr>
              <a:t>analytics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544937" y="2676906"/>
            <a:ext cx="3199066" cy="1473327"/>
          </a:xfrm>
          <a:prstGeom prst="line">
            <a:avLst/>
          </a:prstGeom>
          <a:ln w="25400">
            <a:solidFill>
              <a:srgbClr val="1E88E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620595" y="3294507"/>
            <a:ext cx="1047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E88E5"/>
                </a:solidFill>
              </a:rPr>
              <a:t>on-demand reads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11316176" y="4150233"/>
            <a:ext cx="2427827" cy="3731704"/>
          </a:xfrm>
          <a:prstGeom prst="line">
            <a:avLst/>
          </a:prstGeom>
          <a:ln w="25400">
            <a:solidFill>
              <a:srgbClr val="E651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1863339" y="5897022"/>
            <a:ext cx="13335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E65100"/>
                </a:solidFill>
              </a:rPr>
              <a:t>on-demand collection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12135231" y="4150233"/>
            <a:ext cx="1608772" cy="2188940"/>
          </a:xfrm>
          <a:prstGeom prst="line">
            <a:avLst/>
          </a:prstGeom>
          <a:ln w="25400">
            <a:solidFill>
              <a:srgbClr val="E651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2415742" y="5125640"/>
            <a:ext cx="1047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E65100"/>
                </a:solidFill>
              </a:rPr>
              <a:t>validated reads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11316176" y="5245608"/>
            <a:ext cx="144494" cy="2636329"/>
          </a:xfrm>
          <a:prstGeom prst="line">
            <a:avLst/>
          </a:prstGeom>
          <a:ln w="25400">
            <a:solidFill>
              <a:srgbClr val="7E57C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950273" y="6444710"/>
            <a:ext cx="8763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7E57C2"/>
                </a:solidFill>
              </a:rPr>
              <a:t>raw readings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11316176" y="6339173"/>
            <a:ext cx="819055" cy="1542764"/>
          </a:xfrm>
          <a:prstGeom prst="line">
            <a:avLst/>
          </a:prstGeom>
          <a:ln w="25400">
            <a:solidFill>
              <a:srgbClr val="43A04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1287553" y="6991492"/>
            <a:ext cx="8763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3A047"/>
                </a:solidFill>
              </a:rPr>
              <a:t>raw readings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0443210" y="7881937"/>
            <a:ext cx="872966" cy="1540764"/>
          </a:xfrm>
          <a:prstGeom prst="line">
            <a:avLst/>
          </a:prstGeom>
          <a:ln w="25400">
            <a:solidFill>
              <a:srgbClr val="FB8C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355818" y="8533257"/>
            <a:ext cx="1047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B8C00"/>
                </a:solidFill>
              </a:rPr>
              <a:t>meter inventory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11135867" y="7881937"/>
            <a:ext cx="180309" cy="3158776"/>
          </a:xfrm>
          <a:prstGeom prst="line">
            <a:avLst/>
          </a:prstGeom>
          <a:ln w="25400">
            <a:solidFill>
              <a:srgbClr val="FB8C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702147" y="9342262"/>
            <a:ext cx="1047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B8C00"/>
                </a:solidFill>
              </a:rPr>
              <a:t>data generation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443210" y="9422701"/>
            <a:ext cx="692657" cy="1618012"/>
          </a:xfrm>
          <a:prstGeom prst="line">
            <a:avLst/>
          </a:prstGeom>
          <a:ln w="25400">
            <a:solidFill>
              <a:srgbClr val="FFA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379964" y="10112644"/>
            <a:ext cx="8191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FA000"/>
                </a:solidFill>
              </a:rPr>
              <a:t>meter specs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