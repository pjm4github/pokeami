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78225" cy="11439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7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78225" cy="114395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51290" y="143922"/>
            <a:ext cx="29337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Step 7: Integrating with Utility Systems</a:t>
            </a:r>
          </a:p>
        </p:txBody>
      </p:sp>
      <p:sp>
        <p:nvSpPr>
          <p:cNvPr id="4" name="Freeform 3"/>
          <p:cNvSpPr/>
          <p:nvPr/>
        </p:nvSpPr>
        <p:spPr>
          <a:xfrm>
            <a:off x="9676542" y="813435"/>
            <a:ext cx="6444615" cy="970788"/>
          </a:xfrm>
          <a:custGeom>
            <a:avLst/>
            <a:gdLst/>
            <a:ahLst/>
            <a:cxnLst/>
            <a:rect l="l" t="t" r="r" b="b"/>
            <a:pathLst>
              <a:path w="6444615" h="970788">
                <a:moveTo>
                  <a:pt x="0" y="95137"/>
                </a:moveTo>
                <a:lnTo>
                  <a:pt x="95381" y="0"/>
                </a:lnTo>
                <a:lnTo>
                  <a:pt x="6444615" y="0"/>
                </a:lnTo>
                <a:lnTo>
                  <a:pt x="6444615" y="875650"/>
                </a:lnTo>
                <a:lnTo>
                  <a:pt x="6349235" y="970788"/>
                </a:lnTo>
                <a:lnTo>
                  <a:pt x="0" y="970788"/>
                </a:lnTo>
                <a:lnTo>
                  <a:pt x="0" y="95137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8847" y="1203579"/>
            <a:ext cx="1337214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98027" y="1203579"/>
            <a:ext cx="1267491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99437" y="1203579"/>
            <a:ext cx="1192053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027342" y="1203579"/>
            <a:ext cx="1334547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 IoT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0493216" y="1415795"/>
            <a:ext cx="4191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2723780" y="1415795"/>
            <a:ext cx="2608041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095511" y="1415795"/>
            <a:ext cx="628269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723780" y="1415795"/>
            <a:ext cx="970884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497407" y="1415795"/>
            <a:ext cx="1065276" cy="1218153"/>
          </a:xfrm>
          <a:prstGeom prst="line">
            <a:avLst/>
          </a:prstGeom>
          <a:ln w="12700">
            <a:solidFill>
              <a:srgbClr val="66BB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810845" y="1983200"/>
            <a:ext cx="3746563" cy="1207484"/>
          </a:xfrm>
          <a:prstGeom prst="ellipse">
            <a:avLst/>
          </a:prstGeom>
          <a:solidFill>
            <a:srgbClr val="E3F2FD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62019" y="2421826"/>
            <a:ext cx="862203" cy="424243"/>
          </a:xfrm>
          <a:prstGeom prst="roundRect">
            <a:avLst>
              <a:gd name="adj" fmla="val 22451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66265" y="2421826"/>
            <a:ext cx="592931" cy="424243"/>
          </a:xfrm>
          <a:prstGeom prst="roundRect">
            <a:avLst>
              <a:gd name="adj" fmla="val 22451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94381" y="2421826"/>
            <a:ext cx="1058608" cy="424243"/>
          </a:xfrm>
          <a:prstGeom prst="roundRect">
            <a:avLst>
              <a:gd name="adj" fmla="val 22451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93216" y="2633948"/>
            <a:ext cx="2757868" cy="1401032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562683" y="2633948"/>
            <a:ext cx="1688401" cy="1401032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723780" y="2633948"/>
            <a:ext cx="527304" cy="1401032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11485149" y="3392519"/>
            <a:ext cx="3531680" cy="1284827"/>
          </a:xfrm>
          <a:custGeom>
            <a:avLst/>
            <a:gdLst/>
            <a:ahLst/>
            <a:cxnLst/>
            <a:rect l="l" t="t" r="r" b="b"/>
            <a:pathLst>
              <a:path w="3531680" h="1284827">
                <a:moveTo>
                  <a:pt x="0" y="95205"/>
                </a:moveTo>
                <a:lnTo>
                  <a:pt x="95356" y="0"/>
                </a:lnTo>
                <a:lnTo>
                  <a:pt x="3531680" y="0"/>
                </a:lnTo>
                <a:lnTo>
                  <a:pt x="3531680" y="1189621"/>
                </a:lnTo>
                <a:lnTo>
                  <a:pt x="3436324" y="1284827"/>
                </a:lnTo>
                <a:lnTo>
                  <a:pt x="0" y="1284827"/>
                </a:lnTo>
                <a:lnTo>
                  <a:pt x="0" y="95205"/>
                </a:lnTo>
                <a:close/>
              </a:path>
            </a:pathLst>
          </a:custGeom>
          <a:solidFill>
            <a:srgbClr val="FFF3E0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6644" y="4020693"/>
            <a:ext cx="1248441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99296" y="4020693"/>
            <a:ext cx="1306068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657939" y="4034980"/>
            <a:ext cx="4593145" cy="2688527"/>
          </a:xfrm>
          <a:prstGeom prst="line">
            <a:avLst/>
          </a:prstGeom>
          <a:ln w="12700">
            <a:solidFill>
              <a:srgbClr val="FFA7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516362" y="5260181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A726"/>
                </a:solidFill>
              </a:rPr>
              <a:t>raw readings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2846462" y="4034980"/>
            <a:ext cx="404622" cy="4532471"/>
          </a:xfrm>
          <a:prstGeom prst="line">
            <a:avLst/>
          </a:prstGeom>
          <a:ln w="12700">
            <a:solidFill>
              <a:srgbClr val="7E57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724923" y="6182153"/>
            <a:ext cx="6477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E57C2"/>
                </a:solidFill>
              </a:rPr>
              <a:t>raw data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648860" y="4034980"/>
            <a:ext cx="5602224" cy="6019514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7201471" y="5295995"/>
            <a:ext cx="2912935" cy="2855119"/>
          </a:xfrm>
          <a:custGeom>
            <a:avLst/>
            <a:gdLst/>
            <a:ahLst/>
            <a:cxnLst/>
            <a:rect l="l" t="t" r="r" b="b"/>
            <a:pathLst>
              <a:path w="2912935" h="2855119">
                <a:moveTo>
                  <a:pt x="0" y="95075"/>
                </a:moveTo>
                <a:lnTo>
                  <a:pt x="95253" y="0"/>
                </a:lnTo>
                <a:lnTo>
                  <a:pt x="2912935" y="0"/>
                </a:lnTo>
                <a:lnTo>
                  <a:pt x="2912935" y="2760043"/>
                </a:lnTo>
                <a:lnTo>
                  <a:pt x="2817683" y="2855119"/>
                </a:lnTo>
                <a:lnTo>
                  <a:pt x="0" y="2855119"/>
                </a:lnTo>
                <a:lnTo>
                  <a:pt x="0" y="95075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0760" y="5924073"/>
            <a:ext cx="947928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95873" y="5924073"/>
            <a:ext cx="986599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05622" y="7494365"/>
            <a:ext cx="775335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57939" y="6723507"/>
            <a:ext cx="4188523" cy="1843944"/>
          </a:xfrm>
          <a:prstGeom prst="line">
            <a:avLst/>
          </a:prstGeom>
          <a:ln w="12700">
            <a:solidFill>
              <a:srgbClr val="7E57C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256901" y="7526416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E57C2"/>
                </a:solidFill>
              </a:rPr>
              <a:t>validated data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648860" y="6723507"/>
            <a:ext cx="1009079" cy="3330987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0942605" y="7028116"/>
            <a:ext cx="3807810" cy="3078766"/>
          </a:xfrm>
          <a:custGeom>
            <a:avLst/>
            <a:gdLst/>
            <a:ahLst/>
            <a:cxnLst/>
            <a:rect l="l" t="t" r="r" b="b"/>
            <a:pathLst>
              <a:path w="3807810" h="3078766">
                <a:moveTo>
                  <a:pt x="0" y="95134"/>
                </a:moveTo>
                <a:lnTo>
                  <a:pt x="95195" y="0"/>
                </a:lnTo>
                <a:lnTo>
                  <a:pt x="3807810" y="0"/>
                </a:lnTo>
                <a:lnTo>
                  <a:pt x="3807810" y="2983632"/>
                </a:lnTo>
                <a:lnTo>
                  <a:pt x="3712614" y="3078766"/>
                </a:lnTo>
                <a:lnTo>
                  <a:pt x="0" y="3078766"/>
                </a:lnTo>
                <a:lnTo>
                  <a:pt x="0" y="95134"/>
                </a:lnTo>
                <a:close/>
              </a:path>
            </a:pathLst>
          </a:custGeom>
          <a:solidFill>
            <a:srgbClr val="EDE7F6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351895" y="7494365"/>
            <a:ext cx="1368552" cy="424243"/>
          </a:xfrm>
          <a:prstGeom prst="roundRect">
            <a:avLst>
              <a:gd name="adj" fmla="val 22451"/>
            </a:avLst>
          </a:prstGeom>
          <a:solidFill>
            <a:srgbClr val="D1C4E9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060680" y="7494365"/>
            <a:ext cx="1459706" cy="424243"/>
          </a:xfrm>
          <a:prstGeom prst="roundRect">
            <a:avLst>
              <a:gd name="adj" fmla="val 22451"/>
            </a:avLst>
          </a:prstGeom>
          <a:solidFill>
            <a:srgbClr val="D1C4E9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356657" y="9450133"/>
            <a:ext cx="1494186" cy="424243"/>
          </a:xfrm>
          <a:prstGeom prst="roundRect">
            <a:avLst>
              <a:gd name="adj" fmla="val 22451"/>
            </a:avLst>
          </a:prstGeom>
          <a:solidFill>
            <a:srgbClr val="D1C4E9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40" name="Oval 39"/>
          <p:cNvSpPr/>
          <p:nvPr/>
        </p:nvSpPr>
        <p:spPr>
          <a:xfrm>
            <a:off x="4686014" y="7128033"/>
            <a:ext cx="247459" cy="551973"/>
          </a:xfrm>
          <a:prstGeom prst="ellipse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Billing System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[(CIS)]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GET /readings ?validated_only=true</a:t>
            </a:r>
          </a:p>
        </p:txBody>
      </p:sp>
      <p:sp>
        <p:nvSpPr>
          <p:cNvPr id="41" name="Oval 40"/>
          <p:cNvSpPr/>
          <p:nvPr/>
        </p:nvSpPr>
        <p:spPr>
          <a:xfrm>
            <a:off x="6268783" y="7128033"/>
            <a:ext cx="247459" cy="551973"/>
          </a:xfrm>
          <a:prstGeom prst="ellipse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 Operations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[(OMS/ADMS)]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GET /analytics /voltage-summary</a:t>
            </a:r>
          </a:p>
        </p:txBody>
      </p:sp>
      <p:sp>
        <p:nvSpPr>
          <p:cNvPr id="42" name="Oval 41"/>
          <p:cNvSpPr/>
          <p:nvPr/>
        </p:nvSpPr>
        <p:spPr>
          <a:xfrm>
            <a:off x="2241994" y="7128033"/>
            <a:ext cx="247459" cy="551973"/>
          </a:xfrm>
          <a:prstGeom prst="ellipse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DERMS / Field Ops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[POST /delivery-promises]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GET /analytics /demand-summary</a:t>
            </a:r>
          </a:p>
        </p:txBody>
      </p:sp>
      <p:sp>
        <p:nvSpPr>
          <p:cNvPr id="43" name="Oval 42"/>
          <p:cNvSpPr/>
          <p:nvPr/>
        </p:nvSpPr>
        <p:spPr>
          <a:xfrm>
            <a:off x="557022" y="7204138"/>
            <a:ext cx="247459" cy="551973"/>
          </a:xfrm>
          <a:prstGeom prst="ellipse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Customer Portal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[GET /usage-points]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GET /readings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809744" y="7403973"/>
            <a:ext cx="2839116" cy="2650521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392608" y="7403973"/>
            <a:ext cx="1256252" cy="2650521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365724" y="7403973"/>
            <a:ext cx="5283136" cy="2650521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0751" y="7480173"/>
            <a:ext cx="6968109" cy="2574321"/>
          </a:xfrm>
          <a:prstGeom prst="line">
            <a:avLst/>
          </a:prstGeom>
          <a:ln w="25400">
            <a:solidFill>
              <a:srgbClr val="E65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7648860" y="8567451"/>
            <a:ext cx="5197602" cy="1487043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5526024" y="8822055"/>
            <a:ext cx="4245673" cy="2464879"/>
          </a:xfrm>
          <a:custGeom>
            <a:avLst/>
            <a:gdLst/>
            <a:ahLst/>
            <a:cxnLst/>
            <a:rect l="l" t="t" r="r" b="b"/>
            <a:pathLst>
              <a:path w="4245673" h="2464879">
                <a:moveTo>
                  <a:pt x="0" y="95144"/>
                </a:moveTo>
                <a:lnTo>
                  <a:pt x="95103" y="0"/>
                </a:lnTo>
                <a:lnTo>
                  <a:pt x="4245673" y="0"/>
                </a:lnTo>
                <a:lnTo>
                  <a:pt x="4245673" y="2369735"/>
                </a:lnTo>
                <a:lnTo>
                  <a:pt x="4150570" y="2464879"/>
                </a:lnTo>
                <a:lnTo>
                  <a:pt x="0" y="2464879"/>
                </a:lnTo>
                <a:lnTo>
                  <a:pt x="0" y="95144"/>
                </a:lnTo>
                <a:close/>
              </a:path>
            </a:pathLst>
          </a:cu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35408" y="9450133"/>
            <a:ext cx="833151" cy="424243"/>
          </a:xfrm>
          <a:prstGeom prst="roundRect">
            <a:avLst>
              <a:gd name="adj" fmla="val 22451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10983" y="9450133"/>
            <a:ext cx="923543" cy="424243"/>
          </a:xfrm>
          <a:prstGeom prst="roundRect">
            <a:avLst>
              <a:gd name="adj" fmla="val 22451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67617" y="9450133"/>
            <a:ext cx="1172813" cy="424243"/>
          </a:xfrm>
          <a:prstGeom prst="roundRect">
            <a:avLst>
              <a:gd name="adj" fmla="val 22451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35408" y="10630281"/>
            <a:ext cx="936497" cy="424243"/>
          </a:xfrm>
          <a:prstGeom prst="roundRect">
            <a:avLst>
              <a:gd name="adj" fmla="val 22451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06233" y="10630281"/>
            <a:ext cx="1457229" cy="424243"/>
          </a:xfrm>
          <a:prstGeom prst="roundRect">
            <a:avLst>
              <a:gd name="adj" fmla="val 22451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