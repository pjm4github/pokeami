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506200" cy="10420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rchitecture_step2_com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06200" cy="10420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34466" y="143922"/>
            <a:ext cx="2247899" cy="2667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</a:rPr>
              <a:t>Step 2: Communication Pathways</a:t>
            </a:r>
          </a:p>
        </p:txBody>
      </p:sp>
      <p:sp>
        <p:nvSpPr>
          <p:cNvPr id="4" name="Freeform 3"/>
          <p:cNvSpPr/>
          <p:nvPr/>
        </p:nvSpPr>
        <p:spPr>
          <a:xfrm>
            <a:off x="199834" y="813339"/>
            <a:ext cx="6433566" cy="970693"/>
          </a:xfrm>
          <a:custGeom>
            <a:avLst/>
            <a:gdLst/>
            <a:ahLst/>
            <a:cxnLst/>
            <a:rect l="l" t="t" r="r" b="b"/>
            <a:pathLst>
              <a:path w="6433566" h="970693">
                <a:moveTo>
                  <a:pt x="0" y="95128"/>
                </a:moveTo>
                <a:lnTo>
                  <a:pt x="95217" y="0"/>
                </a:lnTo>
                <a:lnTo>
                  <a:pt x="6433566" y="0"/>
                </a:lnTo>
                <a:lnTo>
                  <a:pt x="6433566" y="875565"/>
                </a:lnTo>
                <a:lnTo>
                  <a:pt x="6338349" y="970693"/>
                </a:lnTo>
                <a:lnTo>
                  <a:pt x="0" y="970693"/>
                </a:lnTo>
                <a:lnTo>
                  <a:pt x="0" y="95128"/>
                </a:lnTo>
                <a:close/>
              </a:path>
            </a:pathLst>
          </a:custGeom>
          <a:solidFill>
            <a:srgbClr val="E8F5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Smart 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48738" y="1203483"/>
            <a:ext cx="1336833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E350 Residential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9663" y="1203483"/>
            <a:ext cx="1267206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E360 Advanced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901" y="1203483"/>
            <a:ext cx="1191768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S4x/E650 C&amp;I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83292" y="1203483"/>
            <a:ext cx="1334166" cy="424243"/>
          </a:xfrm>
          <a:prstGeom prst="roundRect">
            <a:avLst>
              <a:gd name="adj" fmla="val 22451"/>
            </a:avLst>
          </a:prstGeom>
          <a:solidFill>
            <a:srgbClr val="C8E6C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E660/Revelo IoT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17203" y="1415605"/>
            <a:ext cx="361569" cy="127130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511361" y="1415605"/>
            <a:ext cx="1810" cy="127130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2785" y="1415605"/>
            <a:ext cx="1558576" cy="127130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11361" y="1415605"/>
            <a:ext cx="1639062" cy="127130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4321397" y="1415605"/>
            <a:ext cx="1495806" cy="127130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1390364" y="1840992"/>
            <a:ext cx="5976080" cy="1573149"/>
          </a:xfrm>
          <a:prstGeom prst="ellipse">
            <a:avLst/>
          </a:prstGeom>
          <a:solidFill>
            <a:srgbClr val="E3F2FD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Communication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7148" y="2336006"/>
            <a:ext cx="1603152" cy="701802"/>
          </a:xfrm>
          <a:prstGeom prst="roundRect">
            <a:avLst>
              <a:gd name="adj" fmla="val 13572"/>
            </a:avLst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RF Mesh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[Gridstream · 900MHz]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E350, E360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2259" y="2336006"/>
            <a:ext cx="1438465" cy="701802"/>
          </a:xfrm>
          <a:prstGeom prst="roundRect">
            <a:avLst>
              <a:gd name="adj" fmla="val 13572"/>
            </a:avLst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PLC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[Power Line Carrier]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E350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5933" y="2336006"/>
            <a:ext cx="1510950" cy="701802"/>
          </a:xfrm>
          <a:prstGeom prst="roundRect">
            <a:avLst>
              <a:gd name="adj" fmla="val 13572"/>
            </a:avLst>
          </a:prstGeom>
          <a:solidFill>
            <a:srgbClr val="BBDEFB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Cellular LTE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[4G/LTE · Wide-area]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E360, S4x, E660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10084" y="2686907"/>
            <a:ext cx="168688" cy="145237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21397" y="2686907"/>
            <a:ext cx="1688687" cy="145237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11361" y="2686907"/>
            <a:ext cx="3498723" cy="1452372"/>
          </a:xfrm>
          <a:prstGeom prst="line">
            <a:avLst/>
          </a:prstGeom>
          <a:ln w="25400">
            <a:solidFill>
              <a:srgbClr val="1E88E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4244625" y="3496913"/>
            <a:ext cx="3530822" cy="1284732"/>
          </a:xfrm>
          <a:custGeom>
            <a:avLst/>
            <a:gdLst/>
            <a:ahLst/>
            <a:cxnLst/>
            <a:rect l="l" t="t" r="r" b="b"/>
            <a:pathLst>
              <a:path w="3530822" h="1284732">
                <a:moveTo>
                  <a:pt x="0" y="95198"/>
                </a:moveTo>
                <a:lnTo>
                  <a:pt x="95332" y="0"/>
                </a:lnTo>
                <a:lnTo>
                  <a:pt x="3530822" y="0"/>
                </a:lnTo>
                <a:lnTo>
                  <a:pt x="3530822" y="1189533"/>
                </a:lnTo>
                <a:lnTo>
                  <a:pt x="3435490" y="1284732"/>
                </a:lnTo>
                <a:lnTo>
                  <a:pt x="0" y="1284732"/>
                </a:lnTo>
                <a:lnTo>
                  <a:pt x="0" y="95198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HES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[(Head-End System)]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5548" y="4124991"/>
            <a:ext cx="1248156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Data Collection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8677" y="4124991"/>
            <a:ext cx="1305782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Meter Inventory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700712" y="4139279"/>
            <a:ext cx="309372" cy="2241137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10084" y="4139279"/>
            <a:ext cx="3430905" cy="3730371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5034533" y="4139279"/>
            <a:ext cx="975551" cy="4981765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4244625" y="5162264"/>
            <a:ext cx="2912269" cy="2436209"/>
          </a:xfrm>
          <a:custGeom>
            <a:avLst/>
            <a:gdLst/>
            <a:ahLst/>
            <a:cxnLst/>
            <a:rect l="l" t="t" r="r" b="b"/>
            <a:pathLst>
              <a:path w="2912269" h="2436209">
                <a:moveTo>
                  <a:pt x="0" y="95256"/>
                </a:moveTo>
                <a:lnTo>
                  <a:pt x="95231" y="0"/>
                </a:lnTo>
                <a:lnTo>
                  <a:pt x="2912269" y="0"/>
                </a:lnTo>
                <a:lnTo>
                  <a:pt x="2912269" y="2340953"/>
                </a:lnTo>
                <a:lnTo>
                  <a:pt x="2817038" y="2436209"/>
                </a:lnTo>
                <a:lnTo>
                  <a:pt x="0" y="2436209"/>
                </a:lnTo>
                <a:lnTo>
                  <a:pt x="0" y="95256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Core MDMS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[(Meter Data Mgmt)]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53915" y="5790342"/>
            <a:ext cx="94773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38647" y="5790342"/>
            <a:ext cx="98631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Estimation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6682" y="6941820"/>
            <a:ext cx="775144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Editing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700712" y="6380416"/>
            <a:ext cx="3740277" cy="1489234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034533" y="6380416"/>
            <a:ext cx="666179" cy="2740628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7537513" y="6475571"/>
            <a:ext cx="3806857" cy="2788253"/>
          </a:xfrm>
          <a:custGeom>
            <a:avLst/>
            <a:gdLst/>
            <a:ahLst/>
            <a:cxnLst/>
            <a:rect l="l" t="t" r="r" b="b"/>
            <a:pathLst>
              <a:path w="3806857" h="2788253">
                <a:moveTo>
                  <a:pt x="0" y="95079"/>
                </a:moveTo>
                <a:lnTo>
                  <a:pt x="95171" y="0"/>
                </a:lnTo>
                <a:lnTo>
                  <a:pt x="3806857" y="0"/>
                </a:lnTo>
                <a:lnTo>
                  <a:pt x="3806857" y="2693174"/>
                </a:lnTo>
                <a:lnTo>
                  <a:pt x="3711685" y="2788253"/>
                </a:lnTo>
                <a:lnTo>
                  <a:pt x="0" y="2788253"/>
                </a:lnTo>
                <a:lnTo>
                  <a:pt x="0" y="95079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Gridstream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46802" y="6941820"/>
            <a:ext cx="1368170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Demand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55111" y="6941820"/>
            <a:ext cx="1459325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Voltage Monitoring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1565" y="8607171"/>
            <a:ext cx="1493805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Revenue Protection</a:t>
            </a:r>
          </a:p>
        </p:txBody>
      </p:sp>
      <p:sp>
        <p:nvSpPr>
          <p:cNvPr id="37" name="Oval 36"/>
          <p:cNvSpPr/>
          <p:nvPr/>
        </p:nvSpPr>
        <p:spPr>
          <a:xfrm>
            <a:off x="3322700" y="6799135"/>
            <a:ext cx="247459" cy="551973"/>
          </a:xfrm>
          <a:prstGeom prst="ellipse">
            <a:avLst/>
          </a:prstGeom>
          <a:solidFill>
            <a:srgbClr val="EEEEEE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Client Applications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446430" y="7075074"/>
            <a:ext cx="1588103" cy="2045970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034533" y="7869650"/>
            <a:ext cx="4406456" cy="1251394"/>
          </a:xfrm>
          <a:prstGeom prst="line">
            <a:avLst/>
          </a:prstGeom>
          <a:ln w="12700">
            <a:solidFill>
              <a:srgbClr val="BDBD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2912268" y="7979092"/>
            <a:ext cx="4244626" cy="2283905"/>
          </a:xfrm>
          <a:custGeom>
            <a:avLst/>
            <a:gdLst/>
            <a:ahLst/>
            <a:cxnLst/>
            <a:rect l="l" t="t" r="r" b="b"/>
            <a:pathLst>
              <a:path w="4244626" h="2283905">
                <a:moveTo>
                  <a:pt x="0" y="95239"/>
                </a:moveTo>
                <a:lnTo>
                  <a:pt x="95080" y="0"/>
                </a:lnTo>
                <a:lnTo>
                  <a:pt x="4244626" y="0"/>
                </a:lnTo>
                <a:lnTo>
                  <a:pt x="4244626" y="2188666"/>
                </a:lnTo>
                <a:lnTo>
                  <a:pt x="4149546" y="2283905"/>
                </a:lnTo>
                <a:lnTo>
                  <a:pt x="0" y="2283905"/>
                </a:lnTo>
                <a:lnTo>
                  <a:pt x="0" y="95239"/>
                </a:lnTo>
                <a:close/>
              </a:path>
            </a:pathLst>
          </a:custGeom>
          <a:solidFill>
            <a:srgbClr val="E0E0E0"/>
          </a:solidFill>
          <a:ln w="12700"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REST API</a:t>
            </a:r>
          </a:p>
          <a:p>
            <a:pPr algn="ctr"/>
            <a:r>
              <a:rPr sz="1000" b="0">
                <a:solidFill>
                  <a:srgbClr val="000000"/>
                </a:solidFill>
              </a:rPr>
              <a:t>[(FastAPI + OpenAPI 3.1)]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21462" y="8607171"/>
            <a:ext cx="832961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/meters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96847" y="8607171"/>
            <a:ext cx="923353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/readings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53100" y="8607171"/>
            <a:ext cx="117252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/usage-points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21462" y="9606438"/>
            <a:ext cx="936307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/analytics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92002" y="9606438"/>
            <a:ext cx="1456848" cy="424243"/>
          </a:xfrm>
          <a:prstGeom prst="roundRect">
            <a:avLst>
              <a:gd name="adj" fmla="val 22451"/>
            </a:avLst>
          </a:prstGeom>
          <a:solidFill>
            <a:srgbClr val="F5F5F5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/delivery-promises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