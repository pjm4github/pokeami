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668250" cy="10420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step1_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668250" cy="10420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59986" y="143922"/>
            <a:ext cx="224789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Step 1: Landis+Gyr Meter Fleet</a:t>
            </a:r>
          </a:p>
        </p:txBody>
      </p:sp>
      <p:sp>
        <p:nvSpPr>
          <p:cNvPr id="4" name="Freeform 3"/>
          <p:cNvSpPr/>
          <p:nvPr/>
        </p:nvSpPr>
        <p:spPr>
          <a:xfrm>
            <a:off x="199834" y="813339"/>
            <a:ext cx="7243096" cy="1246632"/>
          </a:xfrm>
          <a:custGeom>
            <a:avLst/>
            <a:gdLst/>
            <a:ahLst/>
            <a:cxnLst/>
            <a:rect l="l" t="t" r="r" b="b"/>
            <a:pathLst>
              <a:path w="7243096" h="1246632">
                <a:moveTo>
                  <a:pt x="0" y="95118"/>
                </a:moveTo>
                <a:lnTo>
                  <a:pt x="94885" y="0"/>
                </a:lnTo>
                <a:lnTo>
                  <a:pt x="7243096" y="0"/>
                </a:lnTo>
                <a:lnTo>
                  <a:pt x="7243096" y="1151514"/>
                </a:lnTo>
                <a:lnTo>
                  <a:pt x="7148211" y="1246632"/>
                </a:lnTo>
                <a:lnTo>
                  <a:pt x="0" y="1246632"/>
                </a:lnTo>
                <a:lnTo>
                  <a:pt x="0" y="95118"/>
                </a:lnTo>
                <a:close/>
              </a:path>
            </a:pathLst>
          </a:cu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Smart 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5868" y="1203483"/>
            <a:ext cx="1487043" cy="701802"/>
          </a:xfrm>
          <a:prstGeom prst="roundRect">
            <a:avLst>
              <a:gd name="adj" fmla="val 13572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E350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[Residential]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1φ 120V · Form 2S ~40% of fleet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5235" y="1203483"/>
            <a:ext cx="1298924" cy="701802"/>
          </a:xfrm>
          <a:prstGeom prst="roundRect">
            <a:avLst>
              <a:gd name="adj" fmla="val 13572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E360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[Advanced]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1φ 120V · LTE ~30% of fleet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139" y="1203483"/>
            <a:ext cx="1578197" cy="701802"/>
          </a:xfrm>
          <a:prstGeom prst="roundRect">
            <a:avLst>
              <a:gd name="adj" fmla="val 13572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S4x/E650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[C&amp;I]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3φ 240V · Polyphase ~20% of fleet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92772" y="1203483"/>
            <a:ext cx="1575720" cy="701802"/>
          </a:xfrm>
          <a:prstGeom prst="roundRect">
            <a:avLst>
              <a:gd name="adj" fmla="val 13572"/>
            </a:avLst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E660/Revelo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[IoT]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3φ 240V · Grid-Edge ~10% of fleet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546151" y="1554384"/>
            <a:ext cx="3239" cy="1269683"/>
          </a:xfrm>
          <a:prstGeom prst="line">
            <a:avLst/>
          </a:prstGeom>
          <a:ln w="12700">
            <a:solidFill>
              <a:srgbClr val="43A0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914745" y="1554384"/>
            <a:ext cx="1407414" cy="1269683"/>
          </a:xfrm>
          <a:prstGeom prst="line">
            <a:avLst/>
          </a:prstGeom>
          <a:ln w="12700">
            <a:solidFill>
              <a:srgbClr val="43A0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41285" y="1554384"/>
            <a:ext cx="3180874" cy="1269683"/>
          </a:xfrm>
          <a:prstGeom prst="line">
            <a:avLst/>
          </a:prstGeom>
          <a:ln w="12700">
            <a:solidFill>
              <a:srgbClr val="43A0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322159" y="1554384"/>
            <a:ext cx="358426" cy="1269683"/>
          </a:xfrm>
          <a:prstGeom prst="line">
            <a:avLst/>
          </a:prstGeom>
          <a:ln w="12700">
            <a:solidFill>
              <a:srgbClr val="43A0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83637" y="1554384"/>
            <a:ext cx="1065753" cy="1269683"/>
          </a:xfrm>
          <a:prstGeom prst="line">
            <a:avLst/>
          </a:prstGeom>
          <a:ln w="12700">
            <a:solidFill>
              <a:srgbClr val="43A0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541680" y="2173319"/>
            <a:ext cx="3745896" cy="1207389"/>
          </a:xfrm>
          <a:prstGeom prst="ellipse">
            <a:avLst/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Communication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5240" y="2611945"/>
            <a:ext cx="86201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RF Mesh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7219" y="2611945"/>
            <a:ext cx="592836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2855" y="2611945"/>
            <a:ext cx="1058513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Cellular LTE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46151" y="2824067"/>
            <a:ext cx="625507" cy="131521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3637" y="2824067"/>
            <a:ext cx="1688021" cy="131521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322159" y="2824067"/>
            <a:ext cx="2849499" cy="1315212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5406104" y="3496913"/>
            <a:ext cx="3531108" cy="1284732"/>
          </a:xfrm>
          <a:custGeom>
            <a:avLst/>
            <a:gdLst/>
            <a:ahLst/>
            <a:cxnLst/>
            <a:rect l="l" t="t" r="r" b="b"/>
            <a:pathLst>
              <a:path w="3531108" h="1284732">
                <a:moveTo>
                  <a:pt x="0" y="95198"/>
                </a:moveTo>
                <a:lnTo>
                  <a:pt x="95340" y="0"/>
                </a:lnTo>
                <a:lnTo>
                  <a:pt x="3531108" y="0"/>
                </a:lnTo>
                <a:lnTo>
                  <a:pt x="3531108" y="1189533"/>
                </a:lnTo>
                <a:lnTo>
                  <a:pt x="3435768" y="1284732"/>
                </a:lnTo>
                <a:lnTo>
                  <a:pt x="0" y="1284732"/>
                </a:lnTo>
                <a:lnTo>
                  <a:pt x="0" y="95198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HES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[(Head-End System)]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7217" y="4124991"/>
            <a:ext cx="1248251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20156" y="4124991"/>
            <a:ext cx="1305877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Inventory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862381" y="4139279"/>
            <a:ext cx="309277" cy="2241137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71658" y="4139279"/>
            <a:ext cx="3431191" cy="3730371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196107" y="4139279"/>
            <a:ext cx="975551" cy="4981765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406104" y="5162264"/>
            <a:ext cx="2912459" cy="2436209"/>
          </a:xfrm>
          <a:custGeom>
            <a:avLst/>
            <a:gdLst/>
            <a:ahLst/>
            <a:cxnLst/>
            <a:rect l="l" t="t" r="r" b="b"/>
            <a:pathLst>
              <a:path w="2912459" h="2436209">
                <a:moveTo>
                  <a:pt x="0" y="95256"/>
                </a:moveTo>
                <a:lnTo>
                  <a:pt x="95237" y="0"/>
                </a:lnTo>
                <a:lnTo>
                  <a:pt x="2912459" y="0"/>
                </a:lnTo>
                <a:lnTo>
                  <a:pt x="2912459" y="2340953"/>
                </a:lnTo>
                <a:lnTo>
                  <a:pt x="2817222" y="2436209"/>
                </a:lnTo>
                <a:lnTo>
                  <a:pt x="0" y="2436209"/>
                </a:lnTo>
                <a:lnTo>
                  <a:pt x="0" y="95256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Core MDMS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[(Meter Data Mgmt)]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15393" y="5790342"/>
            <a:ext cx="94783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00316" y="5790342"/>
            <a:ext cx="986409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Estimation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8256" y="6941820"/>
            <a:ext cx="775239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Editing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62381" y="6380416"/>
            <a:ext cx="3740468" cy="1489234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196107" y="6380416"/>
            <a:ext cx="666274" cy="274062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8699277" y="6475571"/>
            <a:ext cx="3807143" cy="2788253"/>
          </a:xfrm>
          <a:custGeom>
            <a:avLst/>
            <a:gdLst/>
            <a:ahLst/>
            <a:cxnLst/>
            <a:rect l="l" t="t" r="r" b="b"/>
            <a:pathLst>
              <a:path w="3807143" h="2788253">
                <a:moveTo>
                  <a:pt x="0" y="95079"/>
                </a:moveTo>
                <a:lnTo>
                  <a:pt x="95179" y="0"/>
                </a:lnTo>
                <a:lnTo>
                  <a:pt x="3807143" y="0"/>
                </a:lnTo>
                <a:lnTo>
                  <a:pt x="3807143" y="2693174"/>
                </a:lnTo>
                <a:lnTo>
                  <a:pt x="3711964" y="2788253"/>
                </a:lnTo>
                <a:lnTo>
                  <a:pt x="0" y="2788253"/>
                </a:lnTo>
                <a:lnTo>
                  <a:pt x="0" y="95079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Analytics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08567" y="6941820"/>
            <a:ext cx="1368266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Demand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17066" y="6941820"/>
            <a:ext cx="1459420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Voltage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13329" y="8607171"/>
            <a:ext cx="1493901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Revenue Protection</a:t>
            </a:r>
          </a:p>
        </p:txBody>
      </p:sp>
      <p:sp>
        <p:nvSpPr>
          <p:cNvPr id="37" name="Oval 36"/>
          <p:cNvSpPr/>
          <p:nvPr/>
        </p:nvSpPr>
        <p:spPr>
          <a:xfrm>
            <a:off x="4484179" y="6799135"/>
            <a:ext cx="247459" cy="551973"/>
          </a:xfrm>
          <a:prstGeom prst="ellipse">
            <a:avLst/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Client Applications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07909" y="7075074"/>
            <a:ext cx="1588198" cy="2045970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6196107" y="7869650"/>
            <a:ext cx="4406742" cy="1251394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4073652" y="7979092"/>
            <a:ext cx="4244911" cy="2283905"/>
          </a:xfrm>
          <a:custGeom>
            <a:avLst/>
            <a:gdLst/>
            <a:ahLst/>
            <a:cxnLst/>
            <a:rect l="l" t="t" r="r" b="b"/>
            <a:pathLst>
              <a:path w="4244911" h="2283905">
                <a:moveTo>
                  <a:pt x="0" y="95239"/>
                </a:moveTo>
                <a:lnTo>
                  <a:pt x="95086" y="0"/>
                </a:lnTo>
                <a:lnTo>
                  <a:pt x="4244911" y="0"/>
                </a:lnTo>
                <a:lnTo>
                  <a:pt x="4244911" y="2188666"/>
                </a:lnTo>
                <a:lnTo>
                  <a:pt x="4149825" y="2283905"/>
                </a:lnTo>
                <a:lnTo>
                  <a:pt x="0" y="2283905"/>
                </a:lnTo>
                <a:lnTo>
                  <a:pt x="0" y="95239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REST API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[(FastAPI + OpenAPI 3.1)]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2941" y="8607171"/>
            <a:ext cx="832961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/meters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58326" y="8607171"/>
            <a:ext cx="923448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/readings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14673" y="8607171"/>
            <a:ext cx="117262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/usage-points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2941" y="9606438"/>
            <a:ext cx="93640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/analytics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53576" y="9606438"/>
            <a:ext cx="1456944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/delivery-promises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