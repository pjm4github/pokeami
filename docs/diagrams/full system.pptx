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16150" cy="115538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916150" cy="11553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5016" y="143922"/>
            <a:ext cx="26593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Simulated AMI Architecture</a:t>
            </a:r>
          </a:p>
        </p:txBody>
      </p:sp>
      <p:sp>
        <p:nvSpPr>
          <p:cNvPr id="4" name="Freeform 3"/>
          <p:cNvSpPr/>
          <p:nvPr/>
        </p:nvSpPr>
        <p:spPr>
          <a:xfrm>
            <a:off x="6063519" y="813435"/>
            <a:ext cx="6444330" cy="970788"/>
          </a:xfrm>
          <a:custGeom>
            <a:avLst/>
            <a:gdLst/>
            <a:ahLst/>
            <a:cxnLst/>
            <a:rect l="l" t="t" r="r" b="b"/>
            <a:pathLst>
              <a:path w="6444330" h="970788">
                <a:moveTo>
                  <a:pt x="0" y="95137"/>
                </a:moveTo>
                <a:lnTo>
                  <a:pt x="95376" y="0"/>
                </a:lnTo>
                <a:lnTo>
                  <a:pt x="6444330" y="0"/>
                </a:lnTo>
                <a:lnTo>
                  <a:pt x="6444330" y="875650"/>
                </a:lnTo>
                <a:lnTo>
                  <a:pt x="6348953" y="970788"/>
                </a:lnTo>
                <a:lnTo>
                  <a:pt x="0" y="970788"/>
                </a:lnTo>
                <a:lnTo>
                  <a:pt x="0" y="95137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5824" y="1203674"/>
            <a:ext cx="1337119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4814" y="1203674"/>
            <a:ext cx="1267491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6414" y="1203674"/>
            <a:ext cx="1191958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4224" y="1203674"/>
            <a:ext cx="1334452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84479" y="1415795"/>
            <a:ext cx="1061752" cy="121815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243917" y="1415795"/>
            <a:ext cx="2474595" cy="121815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82393" y="1415795"/>
            <a:ext cx="761524" cy="121815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43917" y="1415795"/>
            <a:ext cx="837533" cy="121815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83526" y="1415795"/>
            <a:ext cx="953" cy="121815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349174" y="1988915"/>
            <a:ext cx="3780758" cy="1131189"/>
          </a:xfrm>
          <a:prstGeom prst="ellipse">
            <a:avLst/>
          </a:prstGeom>
          <a:solidFill>
            <a:srgbClr val="E3F2FD"/>
          </a:solidFill>
          <a:ln w="127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15225" y="2421826"/>
            <a:ext cx="862107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7108" y="2421826"/>
            <a:ext cx="592931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4613" y="2421826"/>
            <a:ext cx="1058608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46231" y="2633948"/>
            <a:ext cx="1691640" cy="140103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83526" y="2633948"/>
            <a:ext cx="2754345" cy="140103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43917" y="2633948"/>
            <a:ext cx="393954" cy="140103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7872126" y="3392614"/>
            <a:ext cx="3531489" cy="1284827"/>
          </a:xfrm>
          <a:custGeom>
            <a:avLst/>
            <a:gdLst/>
            <a:ahLst/>
            <a:cxnLst/>
            <a:rect l="l" t="t" r="r" b="b"/>
            <a:pathLst>
              <a:path w="3531489" h="1284827">
                <a:moveTo>
                  <a:pt x="0" y="95206"/>
                </a:moveTo>
                <a:lnTo>
                  <a:pt x="95350" y="0"/>
                </a:lnTo>
                <a:lnTo>
                  <a:pt x="3531489" y="0"/>
                </a:lnTo>
                <a:lnTo>
                  <a:pt x="3531489" y="1189622"/>
                </a:lnTo>
                <a:lnTo>
                  <a:pt x="3436139" y="1284827"/>
                </a:lnTo>
                <a:lnTo>
                  <a:pt x="0" y="1284827"/>
                </a:lnTo>
                <a:lnTo>
                  <a:pt x="0" y="95206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3430" y="4020693"/>
            <a:ext cx="1248441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6178" y="4020693"/>
            <a:ext cx="1305972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063519" y="4034980"/>
            <a:ext cx="3574352" cy="27694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12545" y="5300662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103691" y="4034980"/>
            <a:ext cx="7534180" cy="466820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46931" y="6250019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37871" y="4034980"/>
            <a:ext cx="756761" cy="612905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37871" y="4034980"/>
            <a:ext cx="376047" cy="363559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59144" y="5733716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on-demand collection</a:t>
            </a:r>
          </a:p>
        </p:txBody>
      </p:sp>
      <p:sp>
        <p:nvSpPr>
          <p:cNvPr id="31" name="Freeform 30"/>
          <p:cNvSpPr/>
          <p:nvPr/>
        </p:nvSpPr>
        <p:spPr>
          <a:xfrm>
            <a:off x="4607147" y="5295995"/>
            <a:ext cx="2912745" cy="3016948"/>
          </a:xfrm>
          <a:custGeom>
            <a:avLst/>
            <a:gdLst/>
            <a:ahLst/>
            <a:cxnLst/>
            <a:rect l="l" t="t" r="r" b="b"/>
            <a:pathLst>
              <a:path w="2912745" h="3016948">
                <a:moveTo>
                  <a:pt x="0" y="95034"/>
                </a:moveTo>
                <a:lnTo>
                  <a:pt x="95247" y="0"/>
                </a:lnTo>
                <a:lnTo>
                  <a:pt x="2912745" y="0"/>
                </a:lnTo>
                <a:lnTo>
                  <a:pt x="2912745" y="2921914"/>
                </a:lnTo>
                <a:lnTo>
                  <a:pt x="2817498" y="3016948"/>
                </a:lnTo>
                <a:lnTo>
                  <a:pt x="0" y="3016948"/>
                </a:lnTo>
                <a:lnTo>
                  <a:pt x="0" y="95034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8769" y="5924169"/>
            <a:ext cx="947928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35652" y="5924169"/>
            <a:ext cx="986504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6312" y="7656290"/>
            <a:ext cx="775335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103691" y="6804469"/>
            <a:ext cx="3959828" cy="189871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88305" y="7634763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data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63519" y="6804469"/>
            <a:ext cx="4331113" cy="335956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63519" y="6804469"/>
            <a:ext cx="3950399" cy="86610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514844" y="7118461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reads</a:t>
            </a:r>
          </a:p>
        </p:txBody>
      </p:sp>
      <p:sp>
        <p:nvSpPr>
          <p:cNvPr id="40" name="Freeform 39"/>
          <p:cNvSpPr/>
          <p:nvPr/>
        </p:nvSpPr>
        <p:spPr>
          <a:xfrm>
            <a:off x="7900701" y="7028116"/>
            <a:ext cx="4226433" cy="1284827"/>
          </a:xfrm>
          <a:custGeom>
            <a:avLst/>
            <a:gdLst/>
            <a:ahLst/>
            <a:cxnLst/>
            <a:rect l="l" t="t" r="r" b="b"/>
            <a:pathLst>
              <a:path w="4226433" h="1284827">
                <a:moveTo>
                  <a:pt x="0" y="95206"/>
                </a:moveTo>
                <a:lnTo>
                  <a:pt x="95095" y="0"/>
                </a:lnTo>
                <a:lnTo>
                  <a:pt x="4226433" y="0"/>
                </a:lnTo>
                <a:lnTo>
                  <a:pt x="4226433" y="1189622"/>
                </a:lnTo>
                <a:lnTo>
                  <a:pt x="4131339" y="1284827"/>
                </a:lnTo>
                <a:lnTo>
                  <a:pt x="0" y="1284827"/>
                </a:lnTo>
                <a:lnTo>
                  <a:pt x="0" y="95206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Manager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[(On-Demand Reads)]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27887" y="7656290"/>
            <a:ext cx="1367504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Promise Tracking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9991" y="7656290"/>
            <a:ext cx="1887664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 Latency Simulation</a:t>
            </a:r>
          </a:p>
        </p:txBody>
      </p:sp>
      <p:sp>
        <p:nvSpPr>
          <p:cNvPr id="43" name="Freeform 42"/>
          <p:cNvSpPr/>
          <p:nvPr/>
        </p:nvSpPr>
        <p:spPr>
          <a:xfrm>
            <a:off x="199929" y="7189946"/>
            <a:ext cx="3807524" cy="3026473"/>
          </a:xfrm>
          <a:custGeom>
            <a:avLst/>
            <a:gdLst/>
            <a:ahLst/>
            <a:cxnLst/>
            <a:rect l="l" t="t" r="r" b="b"/>
            <a:pathLst>
              <a:path w="3807524" h="3026473">
                <a:moveTo>
                  <a:pt x="0" y="95031"/>
                </a:moveTo>
                <a:lnTo>
                  <a:pt x="95188" y="0"/>
                </a:lnTo>
                <a:lnTo>
                  <a:pt x="3807524" y="0"/>
                </a:lnTo>
                <a:lnTo>
                  <a:pt x="3807524" y="2931442"/>
                </a:lnTo>
                <a:lnTo>
                  <a:pt x="3712336" y="3026473"/>
                </a:lnTo>
                <a:lnTo>
                  <a:pt x="0" y="3026473"/>
                </a:lnTo>
                <a:lnTo>
                  <a:pt x="0" y="95031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339" y="7656290"/>
            <a:ext cx="1368456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7029" y="7656290"/>
            <a:ext cx="1459611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101" y="9559671"/>
            <a:ext cx="1494091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47" name="Oval 46"/>
          <p:cNvSpPr/>
          <p:nvPr/>
        </p:nvSpPr>
        <p:spPr>
          <a:xfrm>
            <a:off x="14155864" y="7513510"/>
            <a:ext cx="247459" cy="551973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13918" y="7670577"/>
            <a:ext cx="380714" cy="249345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10394632" y="7789545"/>
            <a:ext cx="3884962" cy="23744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784663" y="8857726"/>
            <a:ext cx="11049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HTTP + X-API-Key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03691" y="8703183"/>
            <a:ext cx="8290941" cy="14608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1"/>
          <p:cNvSpPr/>
          <p:nvPr/>
        </p:nvSpPr>
        <p:spPr>
          <a:xfrm>
            <a:off x="8271986" y="8931592"/>
            <a:ext cx="4245483" cy="2464975"/>
          </a:xfrm>
          <a:custGeom>
            <a:avLst/>
            <a:gdLst/>
            <a:ahLst/>
            <a:cxnLst/>
            <a:rect l="l" t="t" r="r" b="b"/>
            <a:pathLst>
              <a:path w="4245483" h="2464975">
                <a:moveTo>
                  <a:pt x="0" y="95148"/>
                </a:moveTo>
                <a:lnTo>
                  <a:pt x="95099" y="0"/>
                </a:lnTo>
                <a:lnTo>
                  <a:pt x="4245483" y="0"/>
                </a:lnTo>
                <a:lnTo>
                  <a:pt x="4245483" y="2369827"/>
                </a:lnTo>
                <a:lnTo>
                  <a:pt x="4150384" y="2464975"/>
                </a:lnTo>
                <a:lnTo>
                  <a:pt x="0" y="2464975"/>
                </a:lnTo>
                <a:lnTo>
                  <a:pt x="0" y="95148"/>
                </a:lnTo>
                <a:close/>
              </a:path>
            </a:pathLst>
          </a:custGeom>
          <a:solidFill>
            <a:srgbClr val="E8EAF6"/>
          </a:solidFill>
          <a:ln w="127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0395" y="9559671"/>
            <a:ext cx="833056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5971" y="9559671"/>
            <a:ext cx="923543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32509" y="9559671"/>
            <a:ext cx="1172718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0395" y="10739818"/>
            <a:ext cx="936497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71126" y="10739818"/>
            <a:ext cx="1457134" cy="424243"/>
          </a:xfrm>
          <a:prstGeom prst="roundRect">
            <a:avLst>
              <a:gd name="adj" fmla="val 22451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